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" name="Google Shape;27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" name="Google Shape;45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0" name="Google Shape;70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3" name="Google Shape;93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8" name="Google Shape;128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8" name="Google Shape;148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0" name="Google Shape;170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5" name="Google Shape;185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1" name="Google Shape;211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2" name="Google Shape;242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9" name="Google Shape;279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8" name="Google Shape;298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0" name="Google Shape;320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2" name="Google Shape;342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2" name="Google Shape;352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png"/><Relationship Id="rId4" Type="http://schemas.openxmlformats.org/officeDocument/2006/relationships/image" Target="../media/image21.png"/><Relationship Id="rId5" Type="http://schemas.openxmlformats.org/officeDocument/2006/relationships/image" Target="../media/image1.png"/><Relationship Id="rId6" Type="http://schemas.openxmlformats.org/officeDocument/2006/relationships/image" Target="../media/image1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7.png"/><Relationship Id="rId4" Type="http://schemas.openxmlformats.org/officeDocument/2006/relationships/image" Target="../media/image2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Relationship Id="rId4" Type="http://schemas.openxmlformats.org/officeDocument/2006/relationships/image" Target="../media/image31.png"/><Relationship Id="rId5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9.png"/><Relationship Id="rId4" Type="http://schemas.openxmlformats.org/officeDocument/2006/relationships/image" Target="../media/image22.png"/><Relationship Id="rId5" Type="http://schemas.openxmlformats.org/officeDocument/2006/relationships/image" Target="../media/image14.png"/><Relationship Id="rId6" Type="http://schemas.openxmlformats.org/officeDocument/2006/relationships/image" Target="../media/image26.png"/><Relationship Id="rId7" Type="http://schemas.openxmlformats.org/officeDocument/2006/relationships/image" Target="../media/image30.png"/><Relationship Id="rId8" Type="http://schemas.openxmlformats.org/officeDocument/2006/relationships/image" Target="../media/image2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6.png"/><Relationship Id="rId4" Type="http://schemas.openxmlformats.org/officeDocument/2006/relationships/image" Target="../media/image24.png"/><Relationship Id="rId5" Type="http://schemas.openxmlformats.org/officeDocument/2006/relationships/image" Target="../media/image18.png"/><Relationship Id="rId6" Type="http://schemas.openxmlformats.org/officeDocument/2006/relationships/image" Target="../media/image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hyperlink" Target="https://kredito-iota.vercel.app/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F1E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22C55E"/>
          </a:solidFill>
          <a:ln cap="flat" cmpd="sng" w="12700">
            <a:solidFill>
              <a:srgbClr val="22C5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6583680" y="274320"/>
            <a:ext cx="23774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22C55E"/>
                </a:solidFill>
                <a:latin typeface="Calibri"/>
                <a:ea typeface="Calibri"/>
                <a:cs typeface="Calibri"/>
                <a:sym typeface="Calibri"/>
              </a:rPr>
              <a:t>BUILT ON STELLAR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3"/>
          <p:cNvSpPr/>
          <p:nvPr/>
        </p:nvSpPr>
        <p:spPr>
          <a:xfrm>
            <a:off x="502920" y="1188720"/>
            <a:ext cx="73152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0"/>
              <a:buFont typeface="Calibri"/>
              <a:buNone/>
            </a:pPr>
            <a:r>
              <a:rPr b="1" i="0" lang="en-US" sz="8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Kredito.</a:t>
            </a:r>
            <a:endParaRPr b="0" i="0" sz="8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502920" y="2651760"/>
            <a:ext cx="6400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Decentralized Microfinance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for the Underbanked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502920" y="3657600"/>
            <a:ext cx="3108960" cy="384048"/>
          </a:xfrm>
          <a:prstGeom prst="roundRect">
            <a:avLst>
              <a:gd fmla="val 11905" name="adj"/>
            </a:avLst>
          </a:prstGeom>
          <a:solidFill>
            <a:srgbClr val="22C55E"/>
          </a:solidFill>
          <a:ln cap="flat" cmpd="sng" w="12700">
            <a:solidFill>
              <a:srgbClr val="22C5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3"/>
          <p:cNvSpPr/>
          <p:nvPr/>
        </p:nvSpPr>
        <p:spPr>
          <a:xfrm>
            <a:off x="502920" y="3657600"/>
            <a:ext cx="31089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0F1E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A0F1E"/>
                </a:solidFill>
                <a:latin typeface="Calibri"/>
                <a:ea typeface="Calibri"/>
                <a:cs typeface="Calibri"/>
                <a:sym typeface="Calibri"/>
              </a:rPr>
              <a:t>Blockchain-Powered Credit Passport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502920" y="466344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Presented by  Tirso Benedict Naza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3"/>
          <p:cNvSpPr/>
          <p:nvPr/>
        </p:nvSpPr>
        <p:spPr>
          <a:xfrm>
            <a:off x="7132320" y="457200"/>
            <a:ext cx="3200400" cy="3200400"/>
          </a:xfrm>
          <a:prstGeom prst="ellipse">
            <a:avLst/>
          </a:prstGeom>
          <a:solidFill>
            <a:srgbClr val="22C55E">
              <a:alpha val="10196"/>
            </a:srgbClr>
          </a:solidFill>
          <a:ln cap="flat" cmpd="sng" w="9525">
            <a:solidFill>
              <a:srgbClr val="22C55E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3"/>
          <p:cNvSpPr/>
          <p:nvPr/>
        </p:nvSpPr>
        <p:spPr>
          <a:xfrm>
            <a:off x="7680960" y="1097280"/>
            <a:ext cx="2011680" cy="2011680"/>
          </a:xfrm>
          <a:prstGeom prst="ellipse">
            <a:avLst/>
          </a:prstGeom>
          <a:solidFill>
            <a:srgbClr val="22C55E">
              <a:alpha val="20000"/>
            </a:srgbClr>
          </a:solidFill>
          <a:ln cap="flat" cmpd="sng" w="9525">
            <a:solidFill>
              <a:srgbClr val="22C55E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F1E"/>
        </a:solidFill>
      </p:bgPr>
    </p:bg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4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22C55E"/>
                </a:solidFill>
                <a:latin typeface="Calibri"/>
                <a:ea typeface="Calibri"/>
                <a:cs typeface="Calibri"/>
                <a:sym typeface="Calibri"/>
              </a:rPr>
              <a:t>THE PROBLEM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4"/>
          <p:cNvSpPr/>
          <p:nvPr/>
        </p:nvSpPr>
        <p:spPr>
          <a:xfrm>
            <a:off x="457200" y="502920"/>
            <a:ext cx="82296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Financial Access in the Philippines Is Still Broken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4"/>
          <p:cNvSpPr/>
          <p:nvPr/>
        </p:nvSpPr>
        <p:spPr>
          <a:xfrm>
            <a:off x="457200" y="1417320"/>
            <a:ext cx="2606040" cy="1371600"/>
          </a:xfrm>
          <a:prstGeom prst="rect">
            <a:avLst/>
          </a:prstGeom>
          <a:solidFill>
            <a:srgbClr val="1A2235"/>
          </a:solidFill>
          <a:ln cap="flat" cmpd="sng" w="95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  <a:effectLst>
            <a:outerShdw blurRad="177800" rotWithShape="0" algn="bl" dir="8100000" dist="508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4"/>
          <p:cNvSpPr/>
          <p:nvPr/>
        </p:nvSpPr>
        <p:spPr>
          <a:xfrm>
            <a:off x="457200" y="1481328"/>
            <a:ext cx="26060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3400"/>
              <a:buFont typeface="Calibri"/>
              <a:buNone/>
            </a:pPr>
            <a:r>
              <a:rPr b="1" i="0" lang="en-US" sz="3400" u="none" cap="none" strike="noStrike">
                <a:solidFill>
                  <a:srgbClr val="22C55E"/>
                </a:solidFill>
                <a:latin typeface="Calibri"/>
                <a:ea typeface="Calibri"/>
                <a:cs typeface="Calibri"/>
                <a:sym typeface="Calibri"/>
              </a:rPr>
              <a:t>44%+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4"/>
          <p:cNvSpPr/>
          <p:nvPr/>
        </p:nvSpPr>
        <p:spPr>
          <a:xfrm>
            <a:off x="457200" y="2103120"/>
            <a:ext cx="26060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of Filipinos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underbanked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4"/>
          <p:cNvSpPr/>
          <p:nvPr/>
        </p:nvSpPr>
        <p:spPr>
          <a:xfrm>
            <a:off x="3291840" y="1417320"/>
            <a:ext cx="2606040" cy="1371600"/>
          </a:xfrm>
          <a:prstGeom prst="rect">
            <a:avLst/>
          </a:prstGeom>
          <a:solidFill>
            <a:srgbClr val="1A2235"/>
          </a:solidFill>
          <a:ln cap="flat" cmpd="sng" w="95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  <a:effectLst>
            <a:outerShdw blurRad="177800" rotWithShape="0" algn="bl" dir="8100000" dist="508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4"/>
          <p:cNvSpPr/>
          <p:nvPr/>
        </p:nvSpPr>
        <p:spPr>
          <a:xfrm>
            <a:off x="3291840" y="1481328"/>
            <a:ext cx="26060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3400"/>
              <a:buFont typeface="Calibri"/>
              <a:buNone/>
            </a:pPr>
            <a:r>
              <a:rPr b="1" i="0" lang="en-US" sz="3400" u="none" cap="none" strike="noStrike">
                <a:solidFill>
                  <a:srgbClr val="22C55E"/>
                </a:solidFill>
                <a:latin typeface="Calibri"/>
                <a:ea typeface="Calibri"/>
                <a:cs typeface="Calibri"/>
                <a:sym typeface="Calibri"/>
              </a:rPr>
              <a:t>₱300B+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4"/>
          <p:cNvSpPr/>
          <p:nvPr/>
        </p:nvSpPr>
        <p:spPr>
          <a:xfrm>
            <a:off x="3291840" y="2103120"/>
            <a:ext cx="26060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informal lending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market (PH)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4"/>
          <p:cNvSpPr/>
          <p:nvPr/>
        </p:nvSpPr>
        <p:spPr>
          <a:xfrm>
            <a:off x="6126480" y="1417320"/>
            <a:ext cx="2606040" cy="1371600"/>
          </a:xfrm>
          <a:prstGeom prst="rect">
            <a:avLst/>
          </a:prstGeom>
          <a:solidFill>
            <a:srgbClr val="1A2235"/>
          </a:solidFill>
          <a:ln cap="flat" cmpd="sng" w="95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  <a:effectLst>
            <a:outerShdw blurRad="177800" rotWithShape="0" algn="bl" dir="8100000" dist="508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4"/>
          <p:cNvSpPr/>
          <p:nvPr/>
        </p:nvSpPr>
        <p:spPr>
          <a:xfrm>
            <a:off x="6126480" y="1481328"/>
            <a:ext cx="26060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3400"/>
              <a:buFont typeface="Calibri"/>
              <a:buNone/>
            </a:pPr>
            <a:r>
              <a:rPr b="1" i="0" lang="en-US" sz="3400" u="none" cap="none" strike="noStrike">
                <a:solidFill>
                  <a:srgbClr val="22C55E"/>
                </a:solidFill>
                <a:latin typeface="Calibri"/>
                <a:ea typeface="Calibri"/>
                <a:cs typeface="Calibri"/>
                <a:sym typeface="Calibri"/>
              </a:rPr>
              <a:t>5–10×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6126480" y="2103120"/>
            <a:ext cx="26060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higher rates from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loan sharks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4"/>
          <p:cNvSpPr/>
          <p:nvPr/>
        </p:nvSpPr>
        <p:spPr>
          <a:xfrm>
            <a:off x="457200" y="29718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22C55E"/>
                </a:solidFill>
                <a:latin typeface="Calibri"/>
                <a:ea typeface="Calibri"/>
                <a:cs typeface="Calibri"/>
                <a:sym typeface="Calibri"/>
              </a:rPr>
              <a:t>Why people stay unbanked: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4"/>
          <p:cNvSpPr/>
          <p:nvPr/>
        </p:nvSpPr>
        <p:spPr>
          <a:xfrm>
            <a:off x="457200" y="3291840"/>
            <a:ext cx="822960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Traditional banks require formal credit history — most Filipinos have none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CBD5E1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Small vendors, freelancers, and gig workers are excluded from fair loan access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CBD5E1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High-interest informal lending traps vulnerable borrowers in debt cycles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CBD5E1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Financial systems ignore users without traditional banking relationships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F1E"/>
        </a:solidFill>
      </p:bgPr>
    </p:bg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5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22C55E"/>
                </a:solidFill>
                <a:latin typeface="Calibri"/>
                <a:ea typeface="Calibri"/>
                <a:cs typeface="Calibri"/>
                <a:sym typeface="Calibri"/>
              </a:rPr>
              <a:t>THE SOLUTION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5"/>
          <p:cNvSpPr/>
          <p:nvPr/>
        </p:nvSpPr>
        <p:spPr>
          <a:xfrm>
            <a:off x="457200" y="502920"/>
            <a:ext cx="50292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Kredito: A Portable On-Chain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Credit Identity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5"/>
          <p:cNvSpPr/>
          <p:nvPr/>
        </p:nvSpPr>
        <p:spPr>
          <a:xfrm>
            <a:off x="5669280" y="411480"/>
            <a:ext cx="3291840" cy="1097280"/>
          </a:xfrm>
          <a:prstGeom prst="rect">
            <a:avLst/>
          </a:prstGeom>
          <a:solidFill>
            <a:srgbClr val="1A2235"/>
          </a:solidFill>
          <a:ln cap="flat" cmpd="sng" w="95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  <a:effectLst>
            <a:outerShdw blurRad="177800" rotWithShape="0" algn="bl" dir="8100000" dist="508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5"/>
          <p:cNvSpPr/>
          <p:nvPr/>
        </p:nvSpPr>
        <p:spPr>
          <a:xfrm>
            <a:off x="5760720" y="502920"/>
            <a:ext cx="31089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22C55E"/>
                </a:solidFill>
                <a:latin typeface="Calibri"/>
                <a:ea typeface="Calibri"/>
                <a:cs typeface="Calibri"/>
                <a:sym typeface="Calibri"/>
              </a:rPr>
              <a:t>"Financial access should not require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22C55E"/>
                </a:solidFill>
                <a:latin typeface="Calibri"/>
                <a:ea typeface="Calibri"/>
                <a:cs typeface="Calibri"/>
                <a:sym typeface="Calibri"/>
              </a:rPr>
              <a:t>traditional banking privilege."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5"/>
          <p:cNvSpPr/>
          <p:nvPr/>
        </p:nvSpPr>
        <p:spPr>
          <a:xfrm>
            <a:off x="457200" y="1691640"/>
            <a:ext cx="4114800" cy="1234440"/>
          </a:xfrm>
          <a:prstGeom prst="rect">
            <a:avLst/>
          </a:prstGeom>
          <a:solidFill>
            <a:srgbClr val="1A2235"/>
          </a:solidFill>
          <a:ln cap="flat" cmpd="sng" w="95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  <a:effectLst>
            <a:outerShdw blurRad="177800" rotWithShape="0" algn="bl" dir="8100000" dist="508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3" name="Google Shape;53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080" y="192024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5"/>
          <p:cNvSpPr/>
          <p:nvPr/>
        </p:nvSpPr>
        <p:spPr>
          <a:xfrm>
            <a:off x="1188720" y="1856232"/>
            <a:ext cx="3200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Credit Passport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5"/>
          <p:cNvSpPr/>
          <p:nvPr/>
        </p:nvSpPr>
        <p:spPr>
          <a:xfrm>
            <a:off x="1188720" y="2194560"/>
            <a:ext cx="32004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On-chain identity built from real transaction behavior, not bank records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5"/>
          <p:cNvSpPr/>
          <p:nvPr/>
        </p:nvSpPr>
        <p:spPr>
          <a:xfrm>
            <a:off x="4800600" y="1691640"/>
            <a:ext cx="4114800" cy="1234440"/>
          </a:xfrm>
          <a:prstGeom prst="rect">
            <a:avLst/>
          </a:prstGeom>
          <a:solidFill>
            <a:srgbClr val="1A2235"/>
          </a:solidFill>
          <a:ln cap="flat" cmpd="sng" w="95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  <a:effectLst>
            <a:outerShdw blurRad="177800" rotWithShape="0" algn="bl" dir="8100000" dist="508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7" name="Google Shape;57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83480" y="192024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5"/>
          <p:cNvSpPr/>
          <p:nvPr/>
        </p:nvSpPr>
        <p:spPr>
          <a:xfrm>
            <a:off x="5532120" y="1856232"/>
            <a:ext cx="3200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Borrow XLM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5"/>
          <p:cNvSpPr/>
          <p:nvPr/>
        </p:nvSpPr>
        <p:spPr>
          <a:xfrm>
            <a:off x="5532120" y="2194560"/>
            <a:ext cx="32004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Instant loan disbursement to your Stellar wallet based on your tier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5"/>
          <p:cNvSpPr/>
          <p:nvPr/>
        </p:nvSpPr>
        <p:spPr>
          <a:xfrm>
            <a:off x="457200" y="3108960"/>
            <a:ext cx="4114800" cy="1234440"/>
          </a:xfrm>
          <a:prstGeom prst="rect">
            <a:avLst/>
          </a:prstGeom>
          <a:solidFill>
            <a:srgbClr val="1A2235"/>
          </a:solidFill>
          <a:ln cap="flat" cmpd="sng" w="95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  <a:effectLst>
            <a:outerShdw blurRad="177800" rotWithShape="0" algn="bl" dir="8100000" dist="508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1" name="Google Shape;61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0080" y="333756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5"/>
          <p:cNvSpPr/>
          <p:nvPr/>
        </p:nvSpPr>
        <p:spPr>
          <a:xfrm>
            <a:off x="1188720" y="3273552"/>
            <a:ext cx="3200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Build Reputation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5"/>
          <p:cNvSpPr/>
          <p:nvPr/>
        </p:nvSpPr>
        <p:spPr>
          <a:xfrm>
            <a:off x="1188720" y="3611880"/>
            <a:ext cx="32004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Repay on time → score improves → unlock higher limits and lower fees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5"/>
          <p:cNvSpPr/>
          <p:nvPr/>
        </p:nvSpPr>
        <p:spPr>
          <a:xfrm>
            <a:off x="4800600" y="3108960"/>
            <a:ext cx="4114800" cy="1234440"/>
          </a:xfrm>
          <a:prstGeom prst="rect">
            <a:avLst/>
          </a:prstGeom>
          <a:solidFill>
            <a:srgbClr val="1A2235"/>
          </a:solidFill>
          <a:ln cap="flat" cmpd="sng" w="95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  <a:effectLst>
            <a:outerShdw blurRad="177800" rotWithShape="0" algn="bl" dir="8100000" dist="508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5" name="Google Shape;65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983480" y="333756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5"/>
          <p:cNvSpPr/>
          <p:nvPr/>
        </p:nvSpPr>
        <p:spPr>
          <a:xfrm>
            <a:off x="5532120" y="3273552"/>
            <a:ext cx="3200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Stake &amp; Earn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5"/>
          <p:cNvSpPr/>
          <p:nvPr/>
        </p:nvSpPr>
        <p:spPr>
          <a:xfrm>
            <a:off x="5532120" y="3611880"/>
            <a:ext cx="32004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Lenders, NGOs, and DAOs fund the pool and earn yield from loan fees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F1E"/>
        </a:solidFill>
      </p:bgPr>
    </p:bg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6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22C55E"/>
                </a:solidFill>
                <a:latin typeface="Calibri"/>
                <a:ea typeface="Calibri"/>
                <a:cs typeface="Calibri"/>
                <a:sym typeface="Calibri"/>
              </a:rPr>
              <a:t>MARKET OPPORTUNITY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6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 Massive Underserved Market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6"/>
          <p:cNvSpPr/>
          <p:nvPr/>
        </p:nvSpPr>
        <p:spPr>
          <a:xfrm>
            <a:off x="685800" y="1371600"/>
            <a:ext cx="7772400" cy="868680"/>
          </a:xfrm>
          <a:prstGeom prst="rect">
            <a:avLst/>
          </a:prstGeom>
          <a:solidFill>
            <a:srgbClr val="38BDF8">
              <a:alpha val="14901"/>
            </a:srgbClr>
          </a:solidFill>
          <a:ln cap="flat" cmpd="sng" w="12700">
            <a:solidFill>
              <a:srgbClr val="38BD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6"/>
          <p:cNvSpPr/>
          <p:nvPr/>
        </p:nvSpPr>
        <p:spPr>
          <a:xfrm>
            <a:off x="822960" y="1481328"/>
            <a:ext cx="548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6"/>
          <p:cNvSpPr/>
          <p:nvPr/>
        </p:nvSpPr>
        <p:spPr>
          <a:xfrm>
            <a:off x="1463040" y="1444752"/>
            <a:ext cx="5486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Global Microfinance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6"/>
          <p:cNvSpPr/>
          <p:nvPr/>
        </p:nvSpPr>
        <p:spPr>
          <a:xfrm>
            <a:off x="1463040" y="1755648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Worldwide unbanked population: 1.4B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6"/>
          <p:cNvSpPr/>
          <p:nvPr/>
        </p:nvSpPr>
        <p:spPr>
          <a:xfrm>
            <a:off x="6995160" y="1481328"/>
            <a:ext cx="1371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38BDF8"/>
                </a:solidFill>
                <a:latin typeface="Calibri"/>
                <a:ea typeface="Calibri"/>
                <a:cs typeface="Calibri"/>
                <a:sym typeface="Calibri"/>
              </a:rPr>
              <a:t>$300B+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6"/>
          <p:cNvSpPr/>
          <p:nvPr/>
        </p:nvSpPr>
        <p:spPr>
          <a:xfrm>
            <a:off x="1600200" y="2468880"/>
            <a:ext cx="5943600" cy="868680"/>
          </a:xfrm>
          <a:prstGeom prst="rect">
            <a:avLst/>
          </a:prstGeom>
          <a:solidFill>
            <a:srgbClr val="22C55E">
              <a:alpha val="14901"/>
            </a:srgbClr>
          </a:solidFill>
          <a:ln cap="flat" cmpd="sng" w="12700">
            <a:solidFill>
              <a:srgbClr val="22C5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6"/>
          <p:cNvSpPr/>
          <p:nvPr/>
        </p:nvSpPr>
        <p:spPr>
          <a:xfrm>
            <a:off x="1737360" y="2578608"/>
            <a:ext cx="548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6"/>
          <p:cNvSpPr/>
          <p:nvPr/>
        </p:nvSpPr>
        <p:spPr>
          <a:xfrm>
            <a:off x="2377440" y="2542032"/>
            <a:ext cx="3657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Southeast Asia Fintech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6"/>
          <p:cNvSpPr/>
          <p:nvPr/>
        </p:nvSpPr>
        <p:spPr>
          <a:xfrm>
            <a:off x="2377440" y="2852928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Digital lending market by 2025, growing 25% YoY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6"/>
          <p:cNvSpPr/>
          <p:nvPr/>
        </p:nvSpPr>
        <p:spPr>
          <a:xfrm>
            <a:off x="6080760" y="2578608"/>
            <a:ext cx="1371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22C55E"/>
                </a:solidFill>
                <a:latin typeface="Calibri"/>
                <a:ea typeface="Calibri"/>
                <a:cs typeface="Calibri"/>
                <a:sym typeface="Calibri"/>
              </a:rPr>
              <a:t>$38B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6"/>
          <p:cNvSpPr/>
          <p:nvPr/>
        </p:nvSpPr>
        <p:spPr>
          <a:xfrm>
            <a:off x="2514600" y="3566160"/>
            <a:ext cx="4114800" cy="868680"/>
          </a:xfrm>
          <a:prstGeom prst="rect">
            <a:avLst/>
          </a:prstGeom>
          <a:solidFill>
            <a:srgbClr val="F59E0B">
              <a:alpha val="14901"/>
            </a:srgbClr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6"/>
          <p:cNvSpPr/>
          <p:nvPr/>
        </p:nvSpPr>
        <p:spPr>
          <a:xfrm>
            <a:off x="2651760" y="3675888"/>
            <a:ext cx="548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6"/>
          <p:cNvSpPr/>
          <p:nvPr/>
        </p:nvSpPr>
        <p:spPr>
          <a:xfrm>
            <a:off x="3291840" y="3639312"/>
            <a:ext cx="1828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Philippines Underbanked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6"/>
          <p:cNvSpPr/>
          <p:nvPr/>
        </p:nvSpPr>
        <p:spPr>
          <a:xfrm>
            <a:off x="3291840" y="3950208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50M+ unbanked Filipinos × avg. micro-loan need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6"/>
          <p:cNvSpPr/>
          <p:nvPr/>
        </p:nvSpPr>
        <p:spPr>
          <a:xfrm>
            <a:off x="5166360" y="3675888"/>
            <a:ext cx="1371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$2.4B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6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Kredito targets early adopters in the Philippines with a proven product before expanding across SE Asia.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F1E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7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22C55E"/>
                </a:solidFill>
                <a:latin typeface="Calibri"/>
                <a:ea typeface="Calibri"/>
                <a:cs typeface="Calibri"/>
                <a:sym typeface="Calibri"/>
              </a:rPr>
              <a:t>ARCHITECTURE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7"/>
          <p:cNvSpPr/>
          <p:nvPr/>
        </p:nvSpPr>
        <p:spPr>
          <a:xfrm>
            <a:off x="457200" y="502920"/>
            <a:ext cx="45720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How Kredito Works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7"/>
          <p:cNvSpPr/>
          <p:nvPr/>
        </p:nvSpPr>
        <p:spPr>
          <a:xfrm>
            <a:off x="365760" y="1371600"/>
            <a:ext cx="1417320" cy="914400"/>
          </a:xfrm>
          <a:prstGeom prst="roundRect">
            <a:avLst>
              <a:gd fmla="val 6000" name="adj"/>
            </a:avLst>
          </a:prstGeom>
          <a:solidFill>
            <a:srgbClr val="1A2235"/>
          </a:solidFill>
          <a:ln cap="flat" cmpd="sng" w="19050">
            <a:solidFill>
              <a:srgbClr val="22C5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7"/>
          <p:cNvSpPr/>
          <p:nvPr/>
        </p:nvSpPr>
        <p:spPr>
          <a:xfrm>
            <a:off x="365760" y="1463040"/>
            <a:ext cx="14173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User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Wallet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0" name="Google Shape;100;p7"/>
          <p:cNvCxnSpPr/>
          <p:nvPr/>
        </p:nvCxnSpPr>
        <p:spPr>
          <a:xfrm>
            <a:off x="1783080" y="1828800"/>
            <a:ext cx="320040" cy="0"/>
          </a:xfrm>
          <a:prstGeom prst="straightConnector1">
            <a:avLst/>
          </a:prstGeom>
          <a:noFill/>
          <a:ln cap="flat" cmpd="sng" w="19050">
            <a:solidFill>
              <a:srgbClr val="94A3B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1" name="Google Shape;101;p7"/>
          <p:cNvSpPr/>
          <p:nvPr/>
        </p:nvSpPr>
        <p:spPr>
          <a:xfrm>
            <a:off x="1783080" y="1691640"/>
            <a:ext cx="320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7"/>
          <p:cNvSpPr/>
          <p:nvPr/>
        </p:nvSpPr>
        <p:spPr>
          <a:xfrm>
            <a:off x="2103120" y="1371600"/>
            <a:ext cx="1417320" cy="914400"/>
          </a:xfrm>
          <a:prstGeom prst="roundRect">
            <a:avLst>
              <a:gd fmla="val 6000" name="adj"/>
            </a:avLst>
          </a:prstGeom>
          <a:solidFill>
            <a:srgbClr val="1A2235"/>
          </a:solidFill>
          <a:ln cap="flat" cmpd="sng" w="19050">
            <a:solidFill>
              <a:srgbClr val="38BD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7"/>
          <p:cNvSpPr/>
          <p:nvPr/>
        </p:nvSpPr>
        <p:spPr>
          <a:xfrm>
            <a:off x="2103120" y="1463040"/>
            <a:ext cx="14173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Next.js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Frontend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4" name="Google Shape;104;p7"/>
          <p:cNvCxnSpPr/>
          <p:nvPr/>
        </p:nvCxnSpPr>
        <p:spPr>
          <a:xfrm>
            <a:off x="3520440" y="1828800"/>
            <a:ext cx="320040" cy="0"/>
          </a:xfrm>
          <a:prstGeom prst="straightConnector1">
            <a:avLst/>
          </a:prstGeom>
          <a:noFill/>
          <a:ln cap="flat" cmpd="sng" w="19050">
            <a:solidFill>
              <a:srgbClr val="94A3B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5" name="Google Shape;105;p7"/>
          <p:cNvSpPr/>
          <p:nvPr/>
        </p:nvSpPr>
        <p:spPr>
          <a:xfrm>
            <a:off x="3520440" y="1691640"/>
            <a:ext cx="320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7"/>
          <p:cNvSpPr/>
          <p:nvPr/>
        </p:nvSpPr>
        <p:spPr>
          <a:xfrm>
            <a:off x="3840480" y="1371600"/>
            <a:ext cx="1417320" cy="914400"/>
          </a:xfrm>
          <a:prstGeom prst="roundRect">
            <a:avLst>
              <a:gd fmla="val 6000" name="adj"/>
            </a:avLst>
          </a:prstGeom>
          <a:solidFill>
            <a:srgbClr val="1A2235"/>
          </a:solidFill>
          <a:ln cap="flat" cmpd="sng" w="19050">
            <a:solidFill>
              <a:srgbClr val="38BD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7"/>
          <p:cNvSpPr/>
          <p:nvPr/>
        </p:nvSpPr>
        <p:spPr>
          <a:xfrm>
            <a:off x="3840480" y="1463040"/>
            <a:ext cx="14173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Express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Backend API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8" name="Google Shape;108;p7"/>
          <p:cNvCxnSpPr/>
          <p:nvPr/>
        </p:nvCxnSpPr>
        <p:spPr>
          <a:xfrm>
            <a:off x="5257800" y="1828800"/>
            <a:ext cx="320040" cy="0"/>
          </a:xfrm>
          <a:prstGeom prst="straightConnector1">
            <a:avLst/>
          </a:prstGeom>
          <a:noFill/>
          <a:ln cap="flat" cmpd="sng" w="19050">
            <a:solidFill>
              <a:srgbClr val="94A3B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9" name="Google Shape;109;p7"/>
          <p:cNvSpPr/>
          <p:nvPr/>
        </p:nvSpPr>
        <p:spPr>
          <a:xfrm>
            <a:off x="5257800" y="1691640"/>
            <a:ext cx="320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7"/>
          <p:cNvSpPr/>
          <p:nvPr/>
        </p:nvSpPr>
        <p:spPr>
          <a:xfrm>
            <a:off x="5577840" y="1371600"/>
            <a:ext cx="1417320" cy="914400"/>
          </a:xfrm>
          <a:prstGeom prst="roundRect">
            <a:avLst>
              <a:gd fmla="val 6000" name="adj"/>
            </a:avLst>
          </a:prstGeom>
          <a:solidFill>
            <a:srgbClr val="1A2235"/>
          </a:solidFill>
          <a:ln cap="flat" cmpd="sng" w="1905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7"/>
          <p:cNvSpPr/>
          <p:nvPr/>
        </p:nvSpPr>
        <p:spPr>
          <a:xfrm>
            <a:off x="5577840" y="1463040"/>
            <a:ext cx="14173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Soroban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Smart Contracts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2" name="Google Shape;112;p7"/>
          <p:cNvCxnSpPr/>
          <p:nvPr/>
        </p:nvCxnSpPr>
        <p:spPr>
          <a:xfrm>
            <a:off x="6995160" y="1828800"/>
            <a:ext cx="320040" cy="0"/>
          </a:xfrm>
          <a:prstGeom prst="straightConnector1">
            <a:avLst/>
          </a:prstGeom>
          <a:noFill/>
          <a:ln cap="flat" cmpd="sng" w="19050">
            <a:solidFill>
              <a:srgbClr val="94A3B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3" name="Google Shape;113;p7"/>
          <p:cNvSpPr/>
          <p:nvPr/>
        </p:nvSpPr>
        <p:spPr>
          <a:xfrm>
            <a:off x="6995160" y="1691640"/>
            <a:ext cx="320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7"/>
          <p:cNvSpPr/>
          <p:nvPr/>
        </p:nvSpPr>
        <p:spPr>
          <a:xfrm>
            <a:off x="7315200" y="1371600"/>
            <a:ext cx="1417320" cy="914400"/>
          </a:xfrm>
          <a:prstGeom prst="roundRect">
            <a:avLst>
              <a:gd fmla="val 6000" name="adj"/>
            </a:avLst>
          </a:prstGeom>
          <a:solidFill>
            <a:srgbClr val="1A2235"/>
          </a:solidFill>
          <a:ln cap="flat" cmpd="sng" w="19050">
            <a:solidFill>
              <a:srgbClr val="22C5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7"/>
          <p:cNvSpPr/>
          <p:nvPr/>
        </p:nvSpPr>
        <p:spPr>
          <a:xfrm>
            <a:off x="7315200" y="1463040"/>
            <a:ext cx="14173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Stellar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Mainnet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7"/>
          <p:cNvSpPr/>
          <p:nvPr/>
        </p:nvSpPr>
        <p:spPr>
          <a:xfrm>
            <a:off x="457200" y="2560320"/>
            <a:ext cx="4114800" cy="2331720"/>
          </a:xfrm>
          <a:prstGeom prst="rect">
            <a:avLst/>
          </a:prstGeom>
          <a:solidFill>
            <a:srgbClr val="1A2235"/>
          </a:solidFill>
          <a:ln cap="flat" cmpd="sng" w="95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  <a:effectLst>
            <a:outerShdw blurRad="177800" rotWithShape="0" algn="bl" dir="8100000" dist="508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7"/>
          <p:cNvSpPr/>
          <p:nvPr/>
        </p:nvSpPr>
        <p:spPr>
          <a:xfrm>
            <a:off x="457200" y="2560320"/>
            <a:ext cx="4114800" cy="347472"/>
          </a:xfrm>
          <a:prstGeom prst="rect">
            <a:avLst/>
          </a:prstGeom>
          <a:solidFill>
            <a:srgbClr val="22C55E">
              <a:alpha val="80000"/>
            </a:srgbClr>
          </a:solidFill>
          <a:ln cap="flat" cmpd="sng" w="12700">
            <a:solidFill>
              <a:srgbClr val="22C5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7"/>
          <p:cNvSpPr/>
          <p:nvPr/>
        </p:nvSpPr>
        <p:spPr>
          <a:xfrm>
            <a:off x="594360" y="2578608"/>
            <a:ext cx="3840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0F1E"/>
              </a:buClr>
              <a:buSzPts val="1200"/>
              <a:buFont typeface="Courier New"/>
              <a:buNone/>
            </a:pPr>
            <a:r>
              <a:rPr b="1" i="0" lang="en-US" sz="1200" u="none" cap="none" strike="noStrike">
                <a:solidFill>
                  <a:srgbClr val="0A0F1E"/>
                </a:solidFill>
                <a:latin typeface="Courier New"/>
                <a:ea typeface="Courier New"/>
                <a:cs typeface="Courier New"/>
                <a:sym typeface="Courier New"/>
              </a:rPr>
              <a:t>credit_registry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7"/>
          <p:cNvSpPr/>
          <p:nvPr/>
        </p:nvSpPr>
        <p:spPr>
          <a:xfrm>
            <a:off x="594360" y="2999232"/>
            <a:ext cx="384048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Stores borrower reputation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CBD5E1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Score tiers (Bronze → Diamond)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CBD5E1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Repayment behavior history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CBD5E1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KYC verification status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7"/>
          <p:cNvSpPr/>
          <p:nvPr/>
        </p:nvSpPr>
        <p:spPr>
          <a:xfrm>
            <a:off x="4800600" y="2560320"/>
            <a:ext cx="4114800" cy="2331720"/>
          </a:xfrm>
          <a:prstGeom prst="rect">
            <a:avLst/>
          </a:prstGeom>
          <a:solidFill>
            <a:srgbClr val="1A2235"/>
          </a:solidFill>
          <a:ln cap="flat" cmpd="sng" w="95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  <a:effectLst>
            <a:outerShdw blurRad="177800" rotWithShape="0" algn="bl" dir="8100000" dist="508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7"/>
          <p:cNvSpPr/>
          <p:nvPr/>
        </p:nvSpPr>
        <p:spPr>
          <a:xfrm>
            <a:off x="4800600" y="2560320"/>
            <a:ext cx="4114800" cy="347472"/>
          </a:xfrm>
          <a:prstGeom prst="rect">
            <a:avLst/>
          </a:prstGeom>
          <a:solidFill>
            <a:srgbClr val="F59E0B">
              <a:alpha val="80000"/>
            </a:srgbClr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7"/>
          <p:cNvSpPr/>
          <p:nvPr/>
        </p:nvSpPr>
        <p:spPr>
          <a:xfrm>
            <a:off x="4937760" y="2578608"/>
            <a:ext cx="3840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0F1E"/>
              </a:buClr>
              <a:buSzPts val="1200"/>
              <a:buFont typeface="Courier New"/>
              <a:buNone/>
            </a:pPr>
            <a:r>
              <a:rPr b="1" i="0" lang="en-US" sz="1200" u="none" cap="none" strike="noStrike">
                <a:solidFill>
                  <a:srgbClr val="0A0F1E"/>
                </a:solidFill>
                <a:latin typeface="Courier New"/>
                <a:ea typeface="Courier New"/>
                <a:cs typeface="Courier New"/>
                <a:sym typeface="Courier New"/>
              </a:rPr>
              <a:t>lending_pool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7"/>
          <p:cNvSpPr/>
          <p:nvPr/>
        </p:nvSpPr>
        <p:spPr>
          <a:xfrm>
            <a:off x="4937760" y="2999232"/>
            <a:ext cx="384048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Handles borrow &amp; repayment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CBD5E1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Manages staking liquidity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CBD5E1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Distributes fee rewards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CBD5E1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Enforces tier-based limits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7"/>
          <p:cNvSpPr/>
          <p:nvPr/>
        </p:nvSpPr>
        <p:spPr>
          <a:xfrm>
            <a:off x="6217920" y="548640"/>
            <a:ext cx="2743200" cy="594360"/>
          </a:xfrm>
          <a:prstGeom prst="roundRect">
            <a:avLst>
              <a:gd fmla="val 7692" name="adj"/>
            </a:avLst>
          </a:prstGeom>
          <a:solidFill>
            <a:srgbClr val="1A2235"/>
          </a:solidFill>
          <a:ln cap="flat" cmpd="sng" w="9525">
            <a:solidFill>
              <a:srgbClr val="94A3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7"/>
          <p:cNvSpPr/>
          <p:nvPr/>
        </p:nvSpPr>
        <p:spPr>
          <a:xfrm>
            <a:off x="6217920" y="548640"/>
            <a:ext cx="27432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SEP-10 Auth  ·  Horizon API  ·  Stellar SDK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F1E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8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22C55E"/>
                </a:solidFill>
                <a:latin typeface="Calibri"/>
                <a:ea typeface="Calibri"/>
                <a:cs typeface="Calibri"/>
                <a:sym typeface="Calibri"/>
              </a:rPr>
              <a:t>PRODUCT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8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Live Product — Credit Passport Dashboard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8"/>
          <p:cNvSpPr/>
          <p:nvPr/>
        </p:nvSpPr>
        <p:spPr>
          <a:xfrm>
            <a:off x="5897880" y="1234440"/>
            <a:ext cx="36576" cy="640080"/>
          </a:xfrm>
          <a:prstGeom prst="rect">
            <a:avLst/>
          </a:prstGeom>
          <a:solidFill>
            <a:srgbClr val="22C55E"/>
          </a:solidFill>
          <a:ln cap="flat" cmpd="sng" w="12700">
            <a:solidFill>
              <a:srgbClr val="22C5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8"/>
          <p:cNvSpPr/>
          <p:nvPr/>
        </p:nvSpPr>
        <p:spPr>
          <a:xfrm>
            <a:off x="6080760" y="1234440"/>
            <a:ext cx="2834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On-Chain Score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8"/>
          <p:cNvSpPr/>
          <p:nvPr/>
        </p:nvSpPr>
        <p:spPr>
          <a:xfrm>
            <a:off x="6080760" y="1517904"/>
            <a:ext cx="2834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Score built from real Stellar transaction history — not bank records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8"/>
          <p:cNvSpPr/>
          <p:nvPr/>
        </p:nvSpPr>
        <p:spPr>
          <a:xfrm>
            <a:off x="5897880" y="2075688"/>
            <a:ext cx="36576" cy="640080"/>
          </a:xfrm>
          <a:prstGeom prst="rect">
            <a:avLst/>
          </a:prstGeom>
          <a:solidFill>
            <a:srgbClr val="22C55E"/>
          </a:solidFill>
          <a:ln cap="flat" cmpd="sng" w="12700">
            <a:solidFill>
              <a:srgbClr val="22C5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8"/>
          <p:cNvSpPr/>
          <p:nvPr/>
        </p:nvSpPr>
        <p:spPr>
          <a:xfrm>
            <a:off x="6080760" y="2075688"/>
            <a:ext cx="2834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Credit Tiers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8"/>
          <p:cNvSpPr/>
          <p:nvPr/>
        </p:nvSpPr>
        <p:spPr>
          <a:xfrm>
            <a:off x="6080760" y="2359152"/>
            <a:ext cx="2834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Bronze → Silver → Gold → Platinum → Diamond, each unlocking higher limits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8"/>
          <p:cNvSpPr/>
          <p:nvPr/>
        </p:nvSpPr>
        <p:spPr>
          <a:xfrm>
            <a:off x="5897880" y="2916936"/>
            <a:ext cx="36576" cy="640080"/>
          </a:xfrm>
          <a:prstGeom prst="rect">
            <a:avLst/>
          </a:prstGeom>
          <a:solidFill>
            <a:srgbClr val="22C55E"/>
          </a:solidFill>
          <a:ln cap="flat" cmpd="sng" w="12700">
            <a:solidFill>
              <a:srgbClr val="22C5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8"/>
          <p:cNvSpPr/>
          <p:nvPr/>
        </p:nvSpPr>
        <p:spPr>
          <a:xfrm>
            <a:off x="6080760" y="2916936"/>
            <a:ext cx="2834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Instant Limits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8"/>
          <p:cNvSpPr/>
          <p:nvPr/>
        </p:nvSpPr>
        <p:spPr>
          <a:xfrm>
            <a:off x="6080760" y="3200400"/>
            <a:ext cx="2834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Borrow limit and fee rate enforced directly via smart contract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8"/>
          <p:cNvSpPr/>
          <p:nvPr/>
        </p:nvSpPr>
        <p:spPr>
          <a:xfrm>
            <a:off x="5897880" y="3758184"/>
            <a:ext cx="36576" cy="640080"/>
          </a:xfrm>
          <a:prstGeom prst="rect">
            <a:avLst/>
          </a:prstGeom>
          <a:solidFill>
            <a:srgbClr val="22C55E"/>
          </a:solidFill>
          <a:ln cap="flat" cmpd="sng" w="12700">
            <a:solidFill>
              <a:srgbClr val="22C5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8"/>
          <p:cNvSpPr/>
          <p:nvPr/>
        </p:nvSpPr>
        <p:spPr>
          <a:xfrm>
            <a:off x="6080760" y="3758184"/>
            <a:ext cx="2834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KYC Boost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8"/>
          <p:cNvSpPr/>
          <p:nvPr/>
        </p:nvSpPr>
        <p:spPr>
          <a:xfrm>
            <a:off x="6080760" y="4041648"/>
            <a:ext cx="2834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Verified identity unlocks Diamond tier — highest limits, lowest fees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5" name="Google Shape;145;p8" title="Screenshot 2026-05-22 at 10.55.51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5750" y="1378628"/>
            <a:ext cx="5303526" cy="30583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F1E"/>
        </a:solid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9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22C55E"/>
                </a:solidFill>
                <a:latin typeface="Calibri"/>
                <a:ea typeface="Calibri"/>
                <a:cs typeface="Calibri"/>
                <a:sym typeface="Calibri"/>
              </a:rPr>
              <a:t>PRODUCT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9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End-to-End Lending Flow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9"/>
          <p:cNvSpPr/>
          <p:nvPr/>
        </p:nvSpPr>
        <p:spPr>
          <a:xfrm>
            <a:off x="365760" y="1170432"/>
            <a:ext cx="5303520" cy="3474720"/>
          </a:xfrm>
          <a:prstGeom prst="rect">
            <a:avLst/>
          </a:prstGeom>
          <a:solidFill>
            <a:srgbClr val="1A2235"/>
          </a:solidFill>
          <a:ln cap="flat" cmpd="sng" w="95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  <a:effectLst>
            <a:outerShdw blurRad="177800" rotWithShape="0" algn="bl" dir="8100000" dist="508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Users/infinite/Developer/kredito/images/6.png" id="154" name="Google Shape;154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5760" y="1170432"/>
            <a:ext cx="5303520" cy="3474720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9"/>
          <p:cNvSpPr/>
          <p:nvPr/>
        </p:nvSpPr>
        <p:spPr>
          <a:xfrm>
            <a:off x="5897880" y="1325880"/>
            <a:ext cx="347472" cy="347472"/>
          </a:xfrm>
          <a:prstGeom prst="ellipse">
            <a:avLst/>
          </a:prstGeom>
          <a:solidFill>
            <a:srgbClr val="22C55E"/>
          </a:solidFill>
          <a:ln cap="flat" cmpd="sng" w="12700">
            <a:solidFill>
              <a:srgbClr val="22C5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9"/>
          <p:cNvSpPr/>
          <p:nvPr/>
        </p:nvSpPr>
        <p:spPr>
          <a:xfrm>
            <a:off x="5897880" y="1325880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0F1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A0F1E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9"/>
          <p:cNvSpPr/>
          <p:nvPr/>
        </p:nvSpPr>
        <p:spPr>
          <a:xfrm>
            <a:off x="6400800" y="1353312"/>
            <a:ext cx="2514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Borrow — tier-gated eligibility enforced on-chain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9"/>
          <p:cNvSpPr/>
          <p:nvPr/>
        </p:nvSpPr>
        <p:spPr>
          <a:xfrm>
            <a:off x="5897880" y="2148840"/>
            <a:ext cx="347472" cy="347472"/>
          </a:xfrm>
          <a:prstGeom prst="ellipse">
            <a:avLst/>
          </a:prstGeom>
          <a:solidFill>
            <a:srgbClr val="22C55E"/>
          </a:solidFill>
          <a:ln cap="flat" cmpd="sng" w="12700">
            <a:solidFill>
              <a:srgbClr val="22C5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9"/>
          <p:cNvSpPr/>
          <p:nvPr/>
        </p:nvSpPr>
        <p:spPr>
          <a:xfrm>
            <a:off x="5897880" y="2148840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0F1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A0F1E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9"/>
          <p:cNvSpPr/>
          <p:nvPr/>
        </p:nvSpPr>
        <p:spPr>
          <a:xfrm>
            <a:off x="6400800" y="2176272"/>
            <a:ext cx="2514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Review &amp; Confirm — transparent fee breakdown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9"/>
          <p:cNvSpPr/>
          <p:nvPr/>
        </p:nvSpPr>
        <p:spPr>
          <a:xfrm>
            <a:off x="5897880" y="2971800"/>
            <a:ext cx="347472" cy="347472"/>
          </a:xfrm>
          <a:prstGeom prst="ellipse">
            <a:avLst/>
          </a:prstGeom>
          <a:solidFill>
            <a:srgbClr val="22C55E"/>
          </a:solidFill>
          <a:ln cap="flat" cmpd="sng" w="12700">
            <a:solidFill>
              <a:srgbClr val="22C5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9"/>
          <p:cNvSpPr/>
          <p:nvPr/>
        </p:nvSpPr>
        <p:spPr>
          <a:xfrm>
            <a:off x="5897880" y="2971800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0F1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A0F1E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9"/>
          <p:cNvSpPr/>
          <p:nvPr/>
        </p:nvSpPr>
        <p:spPr>
          <a:xfrm>
            <a:off x="6400800" y="2999232"/>
            <a:ext cx="2514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Funds Released — instant disbursement to wallet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9"/>
          <p:cNvSpPr/>
          <p:nvPr/>
        </p:nvSpPr>
        <p:spPr>
          <a:xfrm>
            <a:off x="5897880" y="3794760"/>
            <a:ext cx="347472" cy="347472"/>
          </a:xfrm>
          <a:prstGeom prst="ellipse">
            <a:avLst/>
          </a:prstGeom>
          <a:solidFill>
            <a:srgbClr val="22C55E"/>
          </a:solidFill>
          <a:ln cap="flat" cmpd="sng" w="12700">
            <a:solidFill>
              <a:srgbClr val="22C5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9"/>
          <p:cNvSpPr/>
          <p:nvPr/>
        </p:nvSpPr>
        <p:spPr>
          <a:xfrm>
            <a:off x="5897880" y="3794760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0F1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A0F1E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9"/>
          <p:cNvSpPr/>
          <p:nvPr/>
        </p:nvSpPr>
        <p:spPr>
          <a:xfrm>
            <a:off x="6400800" y="3822192"/>
            <a:ext cx="2514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Repaid on Time — score updates, tier may advance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9"/>
          <p:cNvSpPr/>
          <p:nvPr/>
        </p:nvSpPr>
        <p:spPr>
          <a:xfrm>
            <a:off x="5897880" y="4617720"/>
            <a:ext cx="3017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22C55E"/>
                </a:solidFill>
                <a:latin typeface="Calibri"/>
                <a:ea typeface="Calibri"/>
                <a:cs typeface="Calibri"/>
                <a:sym typeface="Calibri"/>
              </a:rPr>
              <a:t>1.50% flat fee · 30-day term · No principal deduction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F1E"/>
        </a:solidFill>
      </p:bgPr>
    </p:bg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22C55E"/>
                </a:solidFill>
                <a:latin typeface="Calibri"/>
                <a:ea typeface="Calibri"/>
                <a:cs typeface="Calibri"/>
                <a:sym typeface="Calibri"/>
              </a:rPr>
              <a:t>PRODUCT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0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For Lenders &amp; Savers — Stake, Earn, Deposit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0"/>
          <p:cNvSpPr/>
          <p:nvPr/>
        </p:nvSpPr>
        <p:spPr>
          <a:xfrm>
            <a:off x="365760" y="1188720"/>
            <a:ext cx="4114800" cy="2286000"/>
          </a:xfrm>
          <a:prstGeom prst="rect">
            <a:avLst/>
          </a:prstGeom>
          <a:solidFill>
            <a:srgbClr val="1A2235"/>
          </a:solidFill>
          <a:ln cap="flat" cmpd="sng" w="95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  <a:effectLst>
            <a:outerShdw blurRad="177800" rotWithShape="0" algn="bl" dir="8100000" dist="508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76" name="Google Shape;176;p10" title="Screenshot 2026-05-22 at 10.58.02 PM.png"/>
          <p:cNvPicPr preferRelativeResize="0"/>
          <p:nvPr/>
        </p:nvPicPr>
        <p:blipFill rotWithShape="1">
          <a:blip r:embed="rId3">
            <a:alphaModFix/>
          </a:blip>
          <a:srcRect b="1784" l="0" r="0" t="1793"/>
          <a:stretch/>
        </p:blipFill>
        <p:spPr>
          <a:xfrm>
            <a:off x="365760" y="1188720"/>
            <a:ext cx="4114801" cy="2285999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10"/>
          <p:cNvSpPr/>
          <p:nvPr/>
        </p:nvSpPr>
        <p:spPr>
          <a:xfrm>
            <a:off x="4663440" y="1188720"/>
            <a:ext cx="4114800" cy="2286000"/>
          </a:xfrm>
          <a:prstGeom prst="rect">
            <a:avLst/>
          </a:prstGeom>
          <a:solidFill>
            <a:srgbClr val="1A2235"/>
          </a:solidFill>
          <a:ln cap="flat" cmpd="sng" w="95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  <a:effectLst>
            <a:outerShdw blurRad="177800" rotWithShape="0" algn="bl" dir="8100000" dist="508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78" name="Google Shape;178;p10" title="Screenshot 2026-05-22 at 10.58.29 PM.png"/>
          <p:cNvPicPr preferRelativeResize="0"/>
          <p:nvPr/>
        </p:nvPicPr>
        <p:blipFill rotWithShape="1">
          <a:blip r:embed="rId4">
            <a:alphaModFix/>
          </a:blip>
          <a:srcRect b="1784" l="0" r="0" t="1793"/>
          <a:stretch/>
        </p:blipFill>
        <p:spPr>
          <a:xfrm>
            <a:off x="4663440" y="1188720"/>
            <a:ext cx="4114801" cy="2285999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10"/>
          <p:cNvSpPr/>
          <p:nvPr/>
        </p:nvSpPr>
        <p:spPr>
          <a:xfrm>
            <a:off x="365760" y="3520440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22C55E"/>
                </a:solidFill>
                <a:latin typeface="Calibri"/>
                <a:ea typeface="Calibri"/>
                <a:cs typeface="Calibri"/>
                <a:sym typeface="Calibri"/>
              </a:rPr>
              <a:t>Stake &amp; Earn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0"/>
          <p:cNvSpPr/>
          <p:nvPr/>
        </p:nvSpPr>
        <p:spPr>
          <a:xfrm>
            <a:off x="4663440" y="3520440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38BDF8"/>
                </a:solidFill>
                <a:latin typeface="Calibri"/>
                <a:ea typeface="Calibri"/>
                <a:cs typeface="Calibri"/>
                <a:sym typeface="Calibri"/>
              </a:rPr>
              <a:t>Time Deposit &amp; KYC Verification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0"/>
          <p:cNvSpPr/>
          <p:nvPr/>
        </p:nvSpPr>
        <p:spPr>
          <a:xfrm>
            <a:off x="365760" y="3840480"/>
            <a:ext cx="4114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Stake XLM into the lending pool · Earn 50% of all loan fees · Unstake anytime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0"/>
          <p:cNvSpPr/>
          <p:nvPr/>
        </p:nvSpPr>
        <p:spPr>
          <a:xfrm>
            <a:off x="4663440" y="3840480"/>
            <a:ext cx="4114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Lock XLM for fixed term · Guaranteed interest reserved at deposit · KYC unlocks Diamond tier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F1E"/>
        </a:solidFill>
      </p:bgPr>
    </p:bg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1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22C55E"/>
                </a:solidFill>
                <a:latin typeface="Calibri"/>
                <a:ea typeface="Calibri"/>
                <a:cs typeface="Calibri"/>
                <a:sym typeface="Calibri"/>
              </a:rPr>
              <a:t>BUSINESS MODEL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1"/>
          <p:cNvSpPr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How Kredito Makes Money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1"/>
          <p:cNvSpPr/>
          <p:nvPr/>
        </p:nvSpPr>
        <p:spPr>
          <a:xfrm>
            <a:off x="457200" y="1280160"/>
            <a:ext cx="2606040" cy="2377440"/>
          </a:xfrm>
          <a:prstGeom prst="rect">
            <a:avLst/>
          </a:prstGeom>
          <a:solidFill>
            <a:srgbClr val="1A2235"/>
          </a:solidFill>
          <a:ln cap="flat" cmpd="sng" w="95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  <a:effectLst>
            <a:outerShdw blurRad="177800" rotWithShape="0" algn="bl" dir="8100000" dist="508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91" name="Google Shape;191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08760" y="1417320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11"/>
          <p:cNvSpPr/>
          <p:nvPr/>
        </p:nvSpPr>
        <p:spPr>
          <a:xfrm>
            <a:off x="457200" y="1993392"/>
            <a:ext cx="26060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22C55E"/>
                </a:solidFill>
                <a:latin typeface="Calibri"/>
                <a:ea typeface="Calibri"/>
                <a:cs typeface="Calibri"/>
                <a:sym typeface="Calibri"/>
              </a:rPr>
              <a:t>1.50%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1"/>
          <p:cNvSpPr/>
          <p:nvPr/>
        </p:nvSpPr>
        <p:spPr>
          <a:xfrm>
            <a:off x="457200" y="2514600"/>
            <a:ext cx="2606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Loan Origination Fee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1"/>
          <p:cNvSpPr/>
          <p:nvPr/>
        </p:nvSpPr>
        <p:spPr>
          <a:xfrm>
            <a:off x="548640" y="2880360"/>
            <a:ext cx="24231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Flat fee collected on repayment (not deducted from principal). Scales with loan volume.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1"/>
          <p:cNvSpPr/>
          <p:nvPr/>
        </p:nvSpPr>
        <p:spPr>
          <a:xfrm>
            <a:off x="3291840" y="1280160"/>
            <a:ext cx="2606040" cy="2377440"/>
          </a:xfrm>
          <a:prstGeom prst="rect">
            <a:avLst/>
          </a:prstGeom>
          <a:solidFill>
            <a:srgbClr val="1A2235"/>
          </a:solidFill>
          <a:ln cap="flat" cmpd="sng" w="95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  <a:effectLst>
            <a:outerShdw blurRad="177800" rotWithShape="0" algn="bl" dir="8100000" dist="508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96" name="Google Shape;196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43400" y="1417320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11"/>
          <p:cNvSpPr/>
          <p:nvPr/>
        </p:nvSpPr>
        <p:spPr>
          <a:xfrm>
            <a:off x="3291840" y="1993392"/>
            <a:ext cx="26060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38BDF8"/>
                </a:solidFill>
                <a:latin typeface="Calibri"/>
                <a:ea typeface="Calibri"/>
                <a:cs typeface="Calibri"/>
                <a:sym typeface="Calibri"/>
              </a:rPr>
              <a:t>50%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1"/>
          <p:cNvSpPr/>
          <p:nvPr/>
        </p:nvSpPr>
        <p:spPr>
          <a:xfrm>
            <a:off x="3291840" y="2514600"/>
            <a:ext cx="2606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Protocol Fee Share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1"/>
          <p:cNvSpPr/>
          <p:nvPr/>
        </p:nvSpPr>
        <p:spPr>
          <a:xfrm>
            <a:off x="3383280" y="2880360"/>
            <a:ext cx="24231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50% of all loan fees go to the staking pool (lenders/NGOs/DAOs). 50% retained as protocol revenue.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1"/>
          <p:cNvSpPr/>
          <p:nvPr/>
        </p:nvSpPr>
        <p:spPr>
          <a:xfrm>
            <a:off x="6126480" y="1280160"/>
            <a:ext cx="2606040" cy="2377440"/>
          </a:xfrm>
          <a:prstGeom prst="rect">
            <a:avLst/>
          </a:prstGeom>
          <a:solidFill>
            <a:srgbClr val="1A2235"/>
          </a:solidFill>
          <a:ln cap="flat" cmpd="sng" w="95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  <a:effectLst>
            <a:outerShdw blurRad="177800" rotWithShape="0" algn="bl" dir="8100000" dist="508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01" name="Google Shape;201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178040" y="1417320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11"/>
          <p:cNvSpPr/>
          <p:nvPr/>
        </p:nvSpPr>
        <p:spPr>
          <a:xfrm>
            <a:off x="6126480" y="1993392"/>
            <a:ext cx="26060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~1%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1"/>
          <p:cNvSpPr/>
          <p:nvPr/>
        </p:nvSpPr>
        <p:spPr>
          <a:xfrm>
            <a:off x="6126480" y="2514600"/>
            <a:ext cx="2606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Time Deposit Spread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1"/>
          <p:cNvSpPr/>
          <p:nvPr/>
        </p:nvSpPr>
        <p:spPr>
          <a:xfrm>
            <a:off x="6217920" y="2880360"/>
            <a:ext cx="24231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Guaranteed interest offered to depositors is funded by pool yield; spread is protocol income.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1"/>
          <p:cNvSpPr/>
          <p:nvPr/>
        </p:nvSpPr>
        <p:spPr>
          <a:xfrm>
            <a:off x="457200" y="3794760"/>
            <a:ext cx="8229600" cy="1005840"/>
          </a:xfrm>
          <a:prstGeom prst="rect">
            <a:avLst/>
          </a:prstGeom>
          <a:solidFill>
            <a:srgbClr val="1A2235"/>
          </a:solidFill>
          <a:ln cap="flat" cmpd="sng" w="95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  <a:effectLst>
            <a:outerShdw blurRad="177800" rotWithShape="0" algn="bl" dir="8100000" dist="508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11"/>
          <p:cNvSpPr/>
          <p:nvPr/>
        </p:nvSpPr>
        <p:spPr>
          <a:xfrm>
            <a:off x="457200" y="3794760"/>
            <a:ext cx="54864" cy="1005840"/>
          </a:xfrm>
          <a:prstGeom prst="rect">
            <a:avLst/>
          </a:prstGeom>
          <a:solidFill>
            <a:srgbClr val="22C55E"/>
          </a:solidFill>
          <a:ln cap="flat" cmpd="sng" w="12700">
            <a:solidFill>
              <a:srgbClr val="22C5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11"/>
          <p:cNvSpPr/>
          <p:nvPr/>
        </p:nvSpPr>
        <p:spPr>
          <a:xfrm>
            <a:off x="685800" y="3840480"/>
            <a:ext cx="7772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22C55E"/>
                </a:solidFill>
                <a:latin typeface="Calibri"/>
                <a:ea typeface="Calibri"/>
                <a:cs typeface="Calibri"/>
                <a:sym typeface="Calibri"/>
              </a:rPr>
              <a:t>Unit Economics Example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1"/>
          <p:cNvSpPr/>
          <p:nvPr/>
        </p:nvSpPr>
        <p:spPr>
          <a:xfrm>
            <a:off x="685800" y="4114800"/>
            <a:ext cx="77724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100 borrowers × avg. 20 XLM × 1.50% fee = 30 XLM/cycle · 50% to stakers · 50% protocol revenue · Scales with user growth and higher tier adoption.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F1E"/>
        </a:solidFill>
      </p:bgPr>
    </p:bg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2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22C55E"/>
                </a:solidFill>
                <a:latin typeface="Calibri"/>
                <a:ea typeface="Calibri"/>
                <a:cs typeface="Calibri"/>
                <a:sym typeface="Calibri"/>
              </a:rPr>
              <a:t>TRACTION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2"/>
          <p:cNvSpPr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What's Been Built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16" name="Google Shape;216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1335024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12"/>
          <p:cNvSpPr/>
          <p:nvPr/>
        </p:nvSpPr>
        <p:spPr>
          <a:xfrm>
            <a:off x="841248" y="1298448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Full Next.js + Express stack deployed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18" name="Google Shape;218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1847088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12"/>
          <p:cNvSpPr/>
          <p:nvPr/>
        </p:nvSpPr>
        <p:spPr>
          <a:xfrm>
            <a:off x="841248" y="1810512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Soroban smart contracts: credit_registry + lending_pool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20" name="Google Shape;220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2359152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12"/>
          <p:cNvSpPr/>
          <p:nvPr/>
        </p:nvSpPr>
        <p:spPr>
          <a:xfrm>
            <a:off x="841248" y="2322576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SEP-10 wallet authentication (Freighter/Lobstr support)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22" name="Google Shape;222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2871216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12"/>
          <p:cNvSpPr/>
          <p:nvPr/>
        </p:nvSpPr>
        <p:spPr>
          <a:xfrm>
            <a:off x="841248" y="283464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Credit scoring engine (Horizon API + on-chain data)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24" name="Google Shape;224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338328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12"/>
          <p:cNvSpPr/>
          <p:nvPr/>
        </p:nvSpPr>
        <p:spPr>
          <a:xfrm>
            <a:off x="841248" y="3346704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Borrow / Repay flow with instant XLM disbursement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26" name="Google Shape;226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3895344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12"/>
          <p:cNvSpPr/>
          <p:nvPr/>
        </p:nvSpPr>
        <p:spPr>
          <a:xfrm>
            <a:off x="841248" y="3858768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Stake &amp; Earn with real-time reward accumulation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28" name="Google Shape;228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00600" y="1335024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12"/>
          <p:cNvSpPr/>
          <p:nvPr/>
        </p:nvSpPr>
        <p:spPr>
          <a:xfrm>
            <a:off x="5184648" y="1298448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Time Deposit with maturity enforcement + early withdrawal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30" name="Google Shape;230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00600" y="1847088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12"/>
          <p:cNvSpPr/>
          <p:nvPr/>
        </p:nvSpPr>
        <p:spPr>
          <a:xfrm>
            <a:off x="5184648" y="1810512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KYC verification (Diamond tier unlock)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32" name="Google Shape;232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00600" y="2359152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12"/>
          <p:cNvSpPr/>
          <p:nvPr/>
        </p:nvSpPr>
        <p:spPr>
          <a:xfrm>
            <a:off x="5184648" y="2322576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Mainnet deployment &amp; security audit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34" name="Google Shape;234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00600" y="2871216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12"/>
          <p:cNvSpPr/>
          <p:nvPr/>
        </p:nvSpPr>
        <p:spPr>
          <a:xfrm>
            <a:off x="5184648" y="283464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GCash on-ramp integration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36" name="Google Shape;236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00600" y="338328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12"/>
          <p:cNvSpPr/>
          <p:nvPr/>
        </p:nvSpPr>
        <p:spPr>
          <a:xfrm>
            <a:off x="5184648" y="3346704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Public beta launch (PH)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2"/>
          <p:cNvSpPr/>
          <p:nvPr/>
        </p:nvSpPr>
        <p:spPr>
          <a:xfrm>
            <a:off x="457200" y="4663440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22C55E"/>
                </a:solidFill>
                <a:latin typeface="Calibri"/>
                <a:ea typeface="Calibri"/>
                <a:cs typeface="Calibri"/>
                <a:sym typeface="Calibri"/>
              </a:rPr>
              <a:t>✅  Fully functional on Stellar Testnet an</a:t>
            </a:r>
            <a:r>
              <a:rPr b="1" lang="en-US" sz="1100">
                <a:solidFill>
                  <a:srgbClr val="22C55E"/>
                </a:solidFill>
                <a:latin typeface="Calibri"/>
                <a:ea typeface="Calibri"/>
                <a:cs typeface="Calibri"/>
                <a:sym typeface="Calibri"/>
              </a:rPr>
              <a:t>d Mainnet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39" name="Google Shape;239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00600" y="2359150"/>
            <a:ext cx="274320" cy="2743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F1E"/>
        </a:solidFill>
      </p:bgPr>
    </p:bg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3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22C55E"/>
                </a:solidFill>
                <a:latin typeface="Calibri"/>
                <a:ea typeface="Calibri"/>
                <a:cs typeface="Calibri"/>
                <a:sym typeface="Calibri"/>
              </a:rPr>
              <a:t>TECHNOLOGY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3"/>
          <p:cNvSpPr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Why We Built on Stellar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3"/>
          <p:cNvSpPr/>
          <p:nvPr/>
        </p:nvSpPr>
        <p:spPr>
          <a:xfrm>
            <a:off x="457200" y="1325880"/>
            <a:ext cx="2651760" cy="1371600"/>
          </a:xfrm>
          <a:prstGeom prst="rect">
            <a:avLst/>
          </a:prstGeom>
          <a:solidFill>
            <a:srgbClr val="1A2235"/>
          </a:solidFill>
          <a:ln cap="flat" cmpd="sng" w="95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  <a:effectLst>
            <a:outerShdw blurRad="177800" rotWithShape="0" algn="bl" dir="8100000" dist="508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48" name="Google Shape;248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1792" y="1618488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13"/>
          <p:cNvSpPr/>
          <p:nvPr/>
        </p:nvSpPr>
        <p:spPr>
          <a:xfrm>
            <a:off x="1143000" y="1463040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22C55E"/>
                </a:solidFill>
                <a:latin typeface="Calibri"/>
                <a:ea typeface="Calibri"/>
                <a:cs typeface="Calibri"/>
                <a:sym typeface="Calibri"/>
              </a:rPr>
              <a:t>~5 sec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3"/>
          <p:cNvSpPr/>
          <p:nvPr/>
        </p:nvSpPr>
        <p:spPr>
          <a:xfrm>
            <a:off x="1143000" y="1783080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Fast Finality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3"/>
          <p:cNvSpPr/>
          <p:nvPr/>
        </p:nvSpPr>
        <p:spPr>
          <a:xfrm>
            <a:off x="594360" y="2148840"/>
            <a:ext cx="24231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Transactions settle in seconds — critical for real-world loan disbursement.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3"/>
          <p:cNvSpPr/>
          <p:nvPr/>
        </p:nvSpPr>
        <p:spPr>
          <a:xfrm>
            <a:off x="3337560" y="1325880"/>
            <a:ext cx="2651760" cy="1371600"/>
          </a:xfrm>
          <a:prstGeom prst="rect">
            <a:avLst/>
          </a:prstGeom>
          <a:solidFill>
            <a:srgbClr val="1A2235"/>
          </a:solidFill>
          <a:ln cap="flat" cmpd="sng" w="95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  <a:effectLst>
            <a:outerShdw blurRad="177800" rotWithShape="0" algn="bl" dir="8100000" dist="508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53" name="Google Shape;253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02152" y="1618488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13"/>
          <p:cNvSpPr/>
          <p:nvPr/>
        </p:nvSpPr>
        <p:spPr>
          <a:xfrm>
            <a:off x="4023360" y="1463040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38BDF8"/>
                </a:solidFill>
                <a:latin typeface="Calibri"/>
                <a:ea typeface="Calibri"/>
                <a:cs typeface="Calibri"/>
                <a:sym typeface="Calibri"/>
              </a:rPr>
              <a:t>&lt; $0.001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3"/>
          <p:cNvSpPr/>
          <p:nvPr/>
        </p:nvSpPr>
        <p:spPr>
          <a:xfrm>
            <a:off x="4023360" y="1783080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Extremely Low Fees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3"/>
          <p:cNvSpPr/>
          <p:nvPr/>
        </p:nvSpPr>
        <p:spPr>
          <a:xfrm>
            <a:off x="3474720" y="2148840"/>
            <a:ext cx="24231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Accessible even for micro-transactions in emerging markets.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3"/>
          <p:cNvSpPr/>
          <p:nvPr/>
        </p:nvSpPr>
        <p:spPr>
          <a:xfrm>
            <a:off x="6217920" y="1325880"/>
            <a:ext cx="2651760" cy="1371600"/>
          </a:xfrm>
          <a:prstGeom prst="rect">
            <a:avLst/>
          </a:prstGeom>
          <a:solidFill>
            <a:srgbClr val="1A2235"/>
          </a:solidFill>
          <a:ln cap="flat" cmpd="sng" w="95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  <a:effectLst>
            <a:outerShdw blurRad="177800" rotWithShape="0" algn="bl" dir="8100000" dist="508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58" name="Google Shape;258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2512" y="1618488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13"/>
          <p:cNvSpPr/>
          <p:nvPr/>
        </p:nvSpPr>
        <p:spPr>
          <a:xfrm>
            <a:off x="6903720" y="1463040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120M+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3"/>
          <p:cNvSpPr/>
          <p:nvPr/>
        </p:nvSpPr>
        <p:spPr>
          <a:xfrm>
            <a:off x="6903720" y="1783080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Financial Inclusion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3"/>
          <p:cNvSpPr/>
          <p:nvPr/>
        </p:nvSpPr>
        <p:spPr>
          <a:xfrm>
            <a:off x="6355080" y="2148840"/>
            <a:ext cx="24231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Stellar's mission directly aligns: built for underserved communities.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3"/>
          <p:cNvSpPr/>
          <p:nvPr/>
        </p:nvSpPr>
        <p:spPr>
          <a:xfrm>
            <a:off x="457200" y="2880360"/>
            <a:ext cx="2651760" cy="1371600"/>
          </a:xfrm>
          <a:prstGeom prst="rect">
            <a:avLst/>
          </a:prstGeom>
          <a:solidFill>
            <a:srgbClr val="1A2235"/>
          </a:solidFill>
          <a:ln cap="flat" cmpd="sng" w="95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  <a:effectLst>
            <a:outerShdw blurRad="177800" rotWithShape="0" algn="bl" dir="8100000" dist="508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63" name="Google Shape;263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1792" y="3172968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p13"/>
          <p:cNvSpPr/>
          <p:nvPr/>
        </p:nvSpPr>
        <p:spPr>
          <a:xfrm>
            <a:off x="1143000" y="3017520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22C55E"/>
                </a:solidFill>
                <a:latin typeface="Calibri"/>
                <a:ea typeface="Calibri"/>
                <a:cs typeface="Calibri"/>
                <a:sym typeface="Calibri"/>
              </a:rPr>
              <a:t>WASM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3"/>
          <p:cNvSpPr/>
          <p:nvPr/>
        </p:nvSpPr>
        <p:spPr>
          <a:xfrm>
            <a:off x="1143000" y="3337560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Soroban Smart Contracts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3"/>
          <p:cNvSpPr/>
          <p:nvPr/>
        </p:nvSpPr>
        <p:spPr>
          <a:xfrm>
            <a:off x="594360" y="3703320"/>
            <a:ext cx="24231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Programmable, auditable contracts for trustless credit logic.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3"/>
          <p:cNvSpPr/>
          <p:nvPr/>
        </p:nvSpPr>
        <p:spPr>
          <a:xfrm>
            <a:off x="3337560" y="2880360"/>
            <a:ext cx="2651760" cy="1371600"/>
          </a:xfrm>
          <a:prstGeom prst="rect">
            <a:avLst/>
          </a:prstGeom>
          <a:solidFill>
            <a:srgbClr val="1A2235"/>
          </a:solidFill>
          <a:ln cap="flat" cmpd="sng" w="95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  <a:effectLst>
            <a:outerShdw blurRad="177800" rotWithShape="0" algn="bl" dir="8100000" dist="508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68" name="Google Shape;268;p1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502152" y="3172968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Google Shape;269;p13"/>
          <p:cNvSpPr/>
          <p:nvPr/>
        </p:nvSpPr>
        <p:spPr>
          <a:xfrm>
            <a:off x="4023360" y="3017520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38BDF8"/>
                </a:solidFill>
                <a:latin typeface="Calibri"/>
                <a:ea typeface="Calibri"/>
                <a:cs typeface="Calibri"/>
                <a:sym typeface="Calibri"/>
              </a:rPr>
              <a:t>SEP-10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13"/>
          <p:cNvSpPr/>
          <p:nvPr/>
        </p:nvSpPr>
        <p:spPr>
          <a:xfrm>
            <a:off x="4023360" y="3337560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SEP Standards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3"/>
          <p:cNvSpPr/>
          <p:nvPr/>
        </p:nvSpPr>
        <p:spPr>
          <a:xfrm>
            <a:off x="3474720" y="3703320"/>
            <a:ext cx="24231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Wallet interoperability with Freighter, Lobstr, and others out of the box.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3"/>
          <p:cNvSpPr/>
          <p:nvPr/>
        </p:nvSpPr>
        <p:spPr>
          <a:xfrm>
            <a:off x="6217920" y="2880360"/>
            <a:ext cx="2651760" cy="1371600"/>
          </a:xfrm>
          <a:prstGeom prst="rect">
            <a:avLst/>
          </a:prstGeom>
          <a:solidFill>
            <a:srgbClr val="1A2235"/>
          </a:solidFill>
          <a:ln cap="flat" cmpd="sng" w="95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  <a:effectLst>
            <a:outerShdw blurRad="177800" rotWithShape="0" algn="bl" dir="8100000" dist="508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73" name="Google Shape;273;p1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382512" y="3172968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13"/>
          <p:cNvSpPr/>
          <p:nvPr/>
        </p:nvSpPr>
        <p:spPr>
          <a:xfrm>
            <a:off x="6903720" y="3017520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1,000 TPS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3"/>
          <p:cNvSpPr/>
          <p:nvPr/>
        </p:nvSpPr>
        <p:spPr>
          <a:xfrm>
            <a:off x="6903720" y="3337560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Scalable Infrastructure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3"/>
          <p:cNvSpPr/>
          <p:nvPr/>
        </p:nvSpPr>
        <p:spPr>
          <a:xfrm>
            <a:off x="6355080" y="3703320"/>
            <a:ext cx="24231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Production-ready for mass adoption without congestion.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F1E"/>
        </a:solidFill>
      </p:bgPr>
    </p:bg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14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22C55E"/>
                </a:solidFill>
                <a:latin typeface="Calibri"/>
                <a:ea typeface="Calibri"/>
                <a:cs typeface="Calibri"/>
                <a:sym typeface="Calibri"/>
              </a:rPr>
              <a:t>TEAM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4"/>
          <p:cNvSpPr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The Team Behind Kredito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4"/>
          <p:cNvSpPr/>
          <p:nvPr/>
        </p:nvSpPr>
        <p:spPr>
          <a:xfrm>
            <a:off x="457200" y="1325880"/>
            <a:ext cx="3931920" cy="3200400"/>
          </a:xfrm>
          <a:prstGeom prst="rect">
            <a:avLst/>
          </a:prstGeom>
          <a:solidFill>
            <a:srgbClr val="1A2235"/>
          </a:solidFill>
          <a:ln cap="flat" cmpd="sng" w="95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  <a:effectLst>
            <a:outerShdw blurRad="177800" rotWithShape="0" algn="bl" dir="8100000" dist="508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14"/>
          <p:cNvSpPr/>
          <p:nvPr/>
        </p:nvSpPr>
        <p:spPr>
          <a:xfrm>
            <a:off x="1737358" y="1545347"/>
            <a:ext cx="1371600" cy="1371600"/>
          </a:xfrm>
          <a:prstGeom prst="ellipse">
            <a:avLst/>
          </a:prstGeom>
          <a:solidFill>
            <a:srgbClr val="22C55E">
              <a:alpha val="80000"/>
            </a:srgbClr>
          </a:solidFill>
          <a:ln cap="flat" cmpd="sng" w="19050">
            <a:solidFill>
              <a:srgbClr val="22C5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14"/>
          <p:cNvSpPr/>
          <p:nvPr/>
        </p:nvSpPr>
        <p:spPr>
          <a:xfrm>
            <a:off x="1737358" y="1508760"/>
            <a:ext cx="13716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TBN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4"/>
          <p:cNvSpPr/>
          <p:nvPr/>
        </p:nvSpPr>
        <p:spPr>
          <a:xfrm>
            <a:off x="594360" y="2999232"/>
            <a:ext cx="3657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Tirso Benedict Naza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4"/>
          <p:cNvSpPr/>
          <p:nvPr/>
        </p:nvSpPr>
        <p:spPr>
          <a:xfrm>
            <a:off x="594360" y="3364992"/>
            <a:ext cx="3657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22C55E"/>
                </a:solidFill>
                <a:latin typeface="Calibri"/>
                <a:ea typeface="Calibri"/>
                <a:cs typeface="Calibri"/>
                <a:sym typeface="Calibri"/>
              </a:rPr>
              <a:t>Founder &amp; Full-Stack Developer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14"/>
          <p:cNvSpPr/>
          <p:nvPr/>
        </p:nvSpPr>
        <p:spPr>
          <a:xfrm>
            <a:off x="594360" y="3657600"/>
            <a:ext cx="35661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Next.js · Node.js · Stellar/Soroban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Designed and built the full Kredito platform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Blockchain microfinance architecture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4"/>
          <p:cNvSpPr/>
          <p:nvPr/>
        </p:nvSpPr>
        <p:spPr>
          <a:xfrm>
            <a:off x="4663440" y="1325880"/>
            <a:ext cx="4023360" cy="3200400"/>
          </a:xfrm>
          <a:prstGeom prst="rect">
            <a:avLst/>
          </a:prstGeom>
          <a:solidFill>
            <a:srgbClr val="1A2235"/>
          </a:solidFill>
          <a:ln cap="flat" cmpd="sng" w="95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  <a:effectLst>
            <a:outerShdw blurRad="177800" rotWithShape="0" algn="bl" dir="8100000" dist="508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14"/>
          <p:cNvSpPr/>
          <p:nvPr/>
        </p:nvSpPr>
        <p:spPr>
          <a:xfrm>
            <a:off x="4663440" y="1325880"/>
            <a:ext cx="4023360" cy="411480"/>
          </a:xfrm>
          <a:prstGeom prst="rect">
            <a:avLst/>
          </a:prstGeom>
          <a:solidFill>
            <a:srgbClr val="22C55E">
              <a:alpha val="80000"/>
            </a:srgbClr>
          </a:solidFill>
          <a:ln cap="flat" cmpd="sng" w="12700">
            <a:solidFill>
              <a:srgbClr val="22C5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14"/>
          <p:cNvSpPr/>
          <p:nvPr/>
        </p:nvSpPr>
        <p:spPr>
          <a:xfrm>
            <a:off x="4754880" y="1371600"/>
            <a:ext cx="3840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Mission-Driven Development</a:t>
            </a:r>
            <a:endParaRPr b="0" i="0" sz="1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14"/>
          <p:cNvSpPr/>
          <p:nvPr/>
        </p:nvSpPr>
        <p:spPr>
          <a:xfrm>
            <a:off x="4754880" y="1847088"/>
            <a:ext cx="3840480" cy="2194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Kredito was built because the problem is real and personal — financial exclusion affects millions of Filipinos every day.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Every design decision — from on-chain credit identity to transparent fee structures — was made to protect borrowers, not extract from them.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14"/>
          <p:cNvSpPr/>
          <p:nvPr/>
        </p:nvSpPr>
        <p:spPr>
          <a:xfrm>
            <a:off x="4754880" y="4206240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22C55E"/>
                </a:solidFill>
                <a:latin typeface="Calibri"/>
                <a:ea typeface="Calibri"/>
                <a:cs typeface="Calibri"/>
                <a:sym typeface="Calibri"/>
              </a:rPr>
              <a:t>Actively seeking co-founders, advisors, and Stellar ecosystem partners.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95" name="Google Shape;295;p14" title="Untitled design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15049" y="1423026"/>
            <a:ext cx="1616226" cy="16162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F1E"/>
        </a:solidFill>
      </p:bgPr>
    </p:bg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15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22C55E"/>
                </a:solidFill>
                <a:latin typeface="Calibri"/>
                <a:ea typeface="Calibri"/>
                <a:cs typeface="Calibri"/>
                <a:sym typeface="Calibri"/>
              </a:rPr>
              <a:t>ROADMAP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5"/>
          <p:cNvSpPr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The Path to Scale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15"/>
          <p:cNvSpPr/>
          <p:nvPr/>
        </p:nvSpPr>
        <p:spPr>
          <a:xfrm>
            <a:off x="411480" y="1325880"/>
            <a:ext cx="2697480" cy="3520440"/>
          </a:xfrm>
          <a:prstGeom prst="rect">
            <a:avLst/>
          </a:prstGeom>
          <a:solidFill>
            <a:srgbClr val="1A2235"/>
          </a:solidFill>
          <a:ln cap="flat" cmpd="sng" w="95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  <a:effectLst>
            <a:outerShdw blurRad="177800" rotWithShape="0" algn="bl" dir="8100000" dist="508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15"/>
          <p:cNvSpPr/>
          <p:nvPr/>
        </p:nvSpPr>
        <p:spPr>
          <a:xfrm>
            <a:off x="411480" y="1325880"/>
            <a:ext cx="2697480" cy="411480"/>
          </a:xfrm>
          <a:prstGeom prst="rect">
            <a:avLst/>
          </a:prstGeom>
          <a:solidFill>
            <a:srgbClr val="22C55E">
              <a:alpha val="80000"/>
            </a:srgbClr>
          </a:solidFill>
          <a:ln cap="flat" cmpd="sng" w="12700">
            <a:solidFill>
              <a:srgbClr val="22C5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15"/>
          <p:cNvSpPr/>
          <p:nvPr/>
        </p:nvSpPr>
        <p:spPr>
          <a:xfrm>
            <a:off x="521208" y="1371600"/>
            <a:ext cx="1280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Phase 1</a:t>
            </a:r>
            <a:endParaRPr b="0" i="0" sz="13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5"/>
          <p:cNvSpPr/>
          <p:nvPr/>
        </p:nvSpPr>
        <p:spPr>
          <a:xfrm>
            <a:off x="521208" y="1719072"/>
            <a:ext cx="2514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Now → Q3 2026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15"/>
          <p:cNvSpPr/>
          <p:nvPr/>
        </p:nvSpPr>
        <p:spPr>
          <a:xfrm>
            <a:off x="521208" y="2057400"/>
            <a:ext cx="2514600" cy="2606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Security audit &amp; mainnet deployment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CBD5E1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Philippines beta launch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CBD5E1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50 early adopter borrowers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CBD5E1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NGO/DAO lender onboarding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15"/>
          <p:cNvSpPr/>
          <p:nvPr/>
        </p:nvSpPr>
        <p:spPr>
          <a:xfrm>
            <a:off x="3291840" y="1325880"/>
            <a:ext cx="2697480" cy="3520440"/>
          </a:xfrm>
          <a:prstGeom prst="rect">
            <a:avLst/>
          </a:prstGeom>
          <a:solidFill>
            <a:srgbClr val="1A2235"/>
          </a:solidFill>
          <a:ln cap="flat" cmpd="sng" w="95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  <a:effectLst>
            <a:outerShdw blurRad="177800" rotWithShape="0" algn="bl" dir="8100000" dist="508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15"/>
          <p:cNvSpPr/>
          <p:nvPr/>
        </p:nvSpPr>
        <p:spPr>
          <a:xfrm>
            <a:off x="3291840" y="1325880"/>
            <a:ext cx="2697480" cy="411480"/>
          </a:xfrm>
          <a:prstGeom prst="rect">
            <a:avLst/>
          </a:prstGeom>
          <a:solidFill>
            <a:srgbClr val="38BDF8">
              <a:alpha val="80000"/>
            </a:srgbClr>
          </a:solidFill>
          <a:ln cap="flat" cmpd="sng" w="12700">
            <a:solidFill>
              <a:srgbClr val="38BD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15"/>
          <p:cNvSpPr/>
          <p:nvPr/>
        </p:nvSpPr>
        <p:spPr>
          <a:xfrm>
            <a:off x="3401568" y="1371600"/>
            <a:ext cx="1280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1300"/>
              <a:buFont typeface="Calibri"/>
              <a:buNone/>
            </a:pPr>
            <a:r>
              <a:rPr i="0" lang="en-US" sz="13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Phase 2</a:t>
            </a:r>
            <a:endParaRPr i="0" sz="13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5"/>
          <p:cNvSpPr/>
          <p:nvPr/>
        </p:nvSpPr>
        <p:spPr>
          <a:xfrm>
            <a:off x="3401568" y="1719072"/>
            <a:ext cx="2514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Q4 2026 → Q1 2027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5"/>
          <p:cNvSpPr/>
          <p:nvPr/>
        </p:nvSpPr>
        <p:spPr>
          <a:xfrm>
            <a:off x="3401568" y="2057400"/>
            <a:ext cx="2514600" cy="2606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GCash on-ramp integration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CBD5E1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Alternative Credit Identity sharing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CBD5E1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Merchant payment pilot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CBD5E1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500 active borrowers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15"/>
          <p:cNvSpPr/>
          <p:nvPr/>
        </p:nvSpPr>
        <p:spPr>
          <a:xfrm>
            <a:off x="6172200" y="1325880"/>
            <a:ext cx="2697480" cy="3520440"/>
          </a:xfrm>
          <a:prstGeom prst="rect">
            <a:avLst/>
          </a:prstGeom>
          <a:solidFill>
            <a:srgbClr val="1A2235"/>
          </a:solidFill>
          <a:ln cap="flat" cmpd="sng" w="95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  <a:effectLst>
            <a:outerShdw blurRad="177800" rotWithShape="0" algn="bl" dir="8100000" dist="508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15"/>
          <p:cNvSpPr/>
          <p:nvPr/>
        </p:nvSpPr>
        <p:spPr>
          <a:xfrm>
            <a:off x="6172200" y="1325880"/>
            <a:ext cx="2697480" cy="411480"/>
          </a:xfrm>
          <a:prstGeom prst="rect">
            <a:avLst/>
          </a:prstGeom>
          <a:solidFill>
            <a:srgbClr val="F59E0B">
              <a:alpha val="80000"/>
            </a:srgbClr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15"/>
          <p:cNvSpPr/>
          <p:nvPr/>
        </p:nvSpPr>
        <p:spPr>
          <a:xfrm>
            <a:off x="6281928" y="1371600"/>
            <a:ext cx="1280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Phase 3</a:t>
            </a:r>
            <a:endParaRPr b="0" i="0" sz="13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15"/>
          <p:cNvSpPr/>
          <p:nvPr/>
        </p:nvSpPr>
        <p:spPr>
          <a:xfrm>
            <a:off x="6281928" y="1719072"/>
            <a:ext cx="2514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2027+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15"/>
          <p:cNvSpPr/>
          <p:nvPr/>
        </p:nvSpPr>
        <p:spPr>
          <a:xfrm>
            <a:off x="6281928" y="2057400"/>
            <a:ext cx="2514600" cy="2606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Southeast Asia expansion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CBD5E1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Stablecoin lending (USDC)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CBD5E1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B2B API for NGOs/cooperatives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CBD5E1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10,000+ credit passport holders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F1E"/>
        </a:solidFill>
      </p:bgPr>
    </p:bg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16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22C55E"/>
                </a:solidFill>
                <a:latin typeface="Calibri"/>
                <a:ea typeface="Calibri"/>
                <a:cs typeface="Calibri"/>
                <a:sym typeface="Calibri"/>
              </a:rPr>
              <a:t>THE ASK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6"/>
          <p:cNvSpPr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What We're Seeking from Stellar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16"/>
          <p:cNvSpPr/>
          <p:nvPr/>
        </p:nvSpPr>
        <p:spPr>
          <a:xfrm>
            <a:off x="457200" y="1261872"/>
            <a:ext cx="5029200" cy="1280160"/>
          </a:xfrm>
          <a:prstGeom prst="roundRect">
            <a:avLst>
              <a:gd fmla="val 5714" name="adj"/>
            </a:avLst>
          </a:prstGeom>
          <a:solidFill>
            <a:srgbClr val="22C55E">
              <a:alpha val="90196"/>
            </a:srgbClr>
          </a:solidFill>
          <a:ln cap="flat" cmpd="sng" w="19050">
            <a:solidFill>
              <a:srgbClr val="22C5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16"/>
          <p:cNvSpPr/>
          <p:nvPr/>
        </p:nvSpPr>
        <p:spPr>
          <a:xfrm>
            <a:off x="594360" y="1371600"/>
            <a:ext cx="47548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0F1E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0A0F1E"/>
                </a:solidFill>
                <a:latin typeface="Calibri"/>
                <a:ea typeface="Calibri"/>
                <a:cs typeface="Calibri"/>
                <a:sym typeface="Calibri"/>
              </a:rPr>
              <a:t>Stellar Community Fund (SCF)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0F1E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0A0F1E"/>
                </a:solidFill>
                <a:latin typeface="Calibri"/>
                <a:ea typeface="Calibri"/>
                <a:cs typeface="Calibri"/>
                <a:sym typeface="Calibri"/>
              </a:rPr>
              <a:t>Grant Application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16"/>
          <p:cNvSpPr/>
          <p:nvPr/>
        </p:nvSpPr>
        <p:spPr>
          <a:xfrm>
            <a:off x="594360" y="1920240"/>
            <a:ext cx="47548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0F1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0A0F1E"/>
                </a:solidFill>
                <a:latin typeface="Calibri"/>
                <a:ea typeface="Calibri"/>
                <a:cs typeface="Calibri"/>
                <a:sym typeface="Calibri"/>
              </a:rPr>
              <a:t>Seeking grant funding to complete security audit,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0F1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0A0F1E"/>
                </a:solidFill>
                <a:latin typeface="Calibri"/>
                <a:ea typeface="Calibri"/>
                <a:cs typeface="Calibri"/>
                <a:sym typeface="Calibri"/>
              </a:rPr>
              <a:t>mainnet deployment, and Philippines beta launch.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16"/>
          <p:cNvSpPr/>
          <p:nvPr/>
        </p:nvSpPr>
        <p:spPr>
          <a:xfrm>
            <a:off x="5669280" y="1261872"/>
            <a:ext cx="3200400" cy="1280160"/>
          </a:xfrm>
          <a:prstGeom prst="rect">
            <a:avLst/>
          </a:prstGeom>
          <a:solidFill>
            <a:srgbClr val="1A2235"/>
          </a:solidFill>
          <a:ln cap="flat" cmpd="sng" w="95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  <a:effectLst>
            <a:outerShdw blurRad="177800" rotWithShape="0" algn="bl" dir="8100000" dist="508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16"/>
          <p:cNvSpPr/>
          <p:nvPr/>
        </p:nvSpPr>
        <p:spPr>
          <a:xfrm>
            <a:off x="5806440" y="1371600"/>
            <a:ext cx="29260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22C55E"/>
                </a:solidFill>
                <a:latin typeface="Calibri"/>
                <a:ea typeface="Calibri"/>
                <a:cs typeface="Calibri"/>
                <a:sym typeface="Calibri"/>
              </a:rPr>
              <a:t>Use of Funds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16"/>
          <p:cNvSpPr/>
          <p:nvPr/>
        </p:nvSpPr>
        <p:spPr>
          <a:xfrm>
            <a:off x="5806440" y="1691640"/>
            <a:ext cx="29260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Smart contract audit (40%)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"/>
              </a:spcBef>
              <a:spcAft>
                <a:spcPts val="0"/>
              </a:spcAft>
              <a:buClr>
                <a:srgbClr val="CBD5E1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Infrastructure &amp; hosting (25%)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"/>
              </a:spcBef>
              <a:spcAft>
                <a:spcPts val="0"/>
              </a:spcAft>
              <a:buClr>
                <a:srgbClr val="CBD5E1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Legal &amp; compliance PH (20%)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"/>
              </a:spcBef>
              <a:spcAft>
                <a:spcPts val="0"/>
              </a:spcAft>
              <a:buClr>
                <a:srgbClr val="CBD5E1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Marketing / community (15%)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16"/>
          <p:cNvSpPr/>
          <p:nvPr/>
        </p:nvSpPr>
        <p:spPr>
          <a:xfrm>
            <a:off x="457200" y="2743200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What This Delivers for the Stellar Ecosystem: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32" name="Google Shape;332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320040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333" name="Google Shape;333;p16"/>
          <p:cNvSpPr/>
          <p:nvPr/>
        </p:nvSpPr>
        <p:spPr>
          <a:xfrm>
            <a:off x="914400" y="3154680"/>
            <a:ext cx="3657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Real-world Soroban adoption — actual loan and credit transactions on-chain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34" name="Google Shape;334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00600" y="320040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335" name="Google Shape;335;p16"/>
          <p:cNvSpPr/>
          <p:nvPr/>
        </p:nvSpPr>
        <p:spPr>
          <a:xfrm>
            <a:off x="5257800" y="3154680"/>
            <a:ext cx="3657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Financial inclusion impact in Southeast Asia's largest unbanked market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36" name="Google Shape;336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57200" y="397764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337" name="Google Shape;337;p16"/>
          <p:cNvSpPr/>
          <p:nvPr/>
        </p:nvSpPr>
        <p:spPr>
          <a:xfrm>
            <a:off x="914400" y="3931920"/>
            <a:ext cx="3657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NGO and DAO liquidity partners integrating XLM-native lending pools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38" name="Google Shape;338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800600" y="397764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339" name="Google Shape;339;p16"/>
          <p:cNvSpPr/>
          <p:nvPr/>
        </p:nvSpPr>
        <p:spPr>
          <a:xfrm>
            <a:off x="5257800" y="3931920"/>
            <a:ext cx="3657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Open-source credit infrastructure other Stellar builders can extend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F1E"/>
        </a:solidFill>
      </p:bgPr>
    </p:bg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17"/>
          <p:cNvSpPr/>
          <p:nvPr/>
        </p:nvSpPr>
        <p:spPr>
          <a:xfrm>
            <a:off x="274320" y="365760"/>
            <a:ext cx="13716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14000"/>
              <a:buFont typeface="Georgia"/>
              <a:buNone/>
            </a:pPr>
            <a:r>
              <a:rPr b="0" i="0" lang="en-US" sz="14000" u="none" cap="none" strike="noStrike">
                <a:solidFill>
                  <a:srgbClr val="22C55E"/>
                </a:solidFill>
                <a:latin typeface="Georgia"/>
                <a:ea typeface="Georgia"/>
                <a:cs typeface="Georgia"/>
                <a:sym typeface="Georgia"/>
              </a:rPr>
              <a:t>“</a:t>
            </a:r>
            <a:endParaRPr b="0" i="0" sz="1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17"/>
          <p:cNvSpPr/>
          <p:nvPr/>
        </p:nvSpPr>
        <p:spPr>
          <a:xfrm>
            <a:off x="914400" y="1097280"/>
            <a:ext cx="7772400" cy="2377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Kredito transforms blockchain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from speculation into accessible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financial infrastructure.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17"/>
          <p:cNvSpPr/>
          <p:nvPr/>
        </p:nvSpPr>
        <p:spPr>
          <a:xfrm>
            <a:off x="914400" y="3520440"/>
            <a:ext cx="7772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22C55E"/>
                </a:solidFill>
                <a:latin typeface="Calibri"/>
                <a:ea typeface="Calibri"/>
                <a:cs typeface="Calibri"/>
                <a:sym typeface="Calibri"/>
              </a:rPr>
              <a:t>— Kredito · Built on Stellar · 2026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17"/>
          <p:cNvSpPr/>
          <p:nvPr/>
        </p:nvSpPr>
        <p:spPr>
          <a:xfrm>
            <a:off x="2926080" y="4160520"/>
            <a:ext cx="3291840" cy="640080"/>
          </a:xfrm>
          <a:prstGeom prst="roundRect">
            <a:avLst>
              <a:gd fmla="val 8571" name="adj"/>
            </a:avLst>
          </a:prstGeom>
          <a:solidFill>
            <a:srgbClr val="22C55E"/>
          </a:solidFill>
          <a:ln cap="flat" cmpd="sng" w="12700">
            <a:solidFill>
              <a:srgbClr val="22C5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17"/>
          <p:cNvSpPr/>
          <p:nvPr/>
        </p:nvSpPr>
        <p:spPr>
          <a:xfrm>
            <a:off x="2926080" y="4160520"/>
            <a:ext cx="32918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0F1E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A0F1E"/>
                </a:solidFill>
                <a:latin typeface="Calibri"/>
                <a:ea typeface="Calibri"/>
                <a:cs typeface="Calibri"/>
                <a:sym typeface="Calibri"/>
              </a:rPr>
              <a:t>Let's Build Together →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F1E"/>
        </a:solidFill>
      </p:bgPr>
    </p:bg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18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22C55E"/>
          </a:solidFill>
          <a:ln cap="flat" cmpd="sng" w="12700">
            <a:solidFill>
              <a:srgbClr val="22C5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18"/>
          <p:cNvSpPr/>
          <p:nvPr/>
        </p:nvSpPr>
        <p:spPr>
          <a:xfrm>
            <a:off x="6583680" y="274320"/>
            <a:ext cx="23774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22C55E"/>
                </a:solidFill>
                <a:latin typeface="Calibri"/>
                <a:ea typeface="Calibri"/>
                <a:cs typeface="Calibri"/>
                <a:sym typeface="Calibri"/>
              </a:rPr>
              <a:t>BUILT ON STELLAR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18"/>
          <p:cNvSpPr/>
          <p:nvPr/>
        </p:nvSpPr>
        <p:spPr>
          <a:xfrm>
            <a:off x="502920" y="822960"/>
            <a:ext cx="822960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Calibri"/>
              <a:buNone/>
            </a:pPr>
            <a:r>
              <a:rPr b="1" i="0" lang="en-US" sz="7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Thank You.</a:t>
            </a:r>
            <a:endParaRPr b="0" i="0" sz="7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18"/>
          <p:cNvSpPr/>
          <p:nvPr/>
        </p:nvSpPr>
        <p:spPr>
          <a:xfrm>
            <a:off x="502920" y="2240280"/>
            <a:ext cx="4572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Tirso Benedict Naza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Founder, Kredito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18"/>
          <p:cNvSpPr/>
          <p:nvPr/>
        </p:nvSpPr>
        <p:spPr>
          <a:xfrm>
            <a:off x="502920" y="3108960"/>
            <a:ext cx="2606040" cy="822960"/>
          </a:xfrm>
          <a:prstGeom prst="rect">
            <a:avLst/>
          </a:prstGeom>
          <a:solidFill>
            <a:srgbClr val="1A2235"/>
          </a:solidFill>
          <a:ln cap="flat" cmpd="sng" w="95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  <a:effectLst>
            <a:outerShdw blurRad="177800" rotWithShape="0" algn="bl" dir="8100000" dist="508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18"/>
          <p:cNvSpPr/>
          <p:nvPr/>
        </p:nvSpPr>
        <p:spPr>
          <a:xfrm>
            <a:off x="640080" y="3163824"/>
            <a:ext cx="2331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22C55E"/>
                </a:solidFill>
                <a:latin typeface="Calibri"/>
                <a:ea typeface="Calibri"/>
                <a:cs typeface="Calibri"/>
                <a:sym typeface="Calibri"/>
              </a:rPr>
              <a:t>GitHub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18"/>
          <p:cNvSpPr/>
          <p:nvPr/>
        </p:nvSpPr>
        <p:spPr>
          <a:xfrm>
            <a:off x="640080" y="3438144"/>
            <a:ext cx="23317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https://github.com/nazakun021/kredito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18"/>
          <p:cNvSpPr/>
          <p:nvPr/>
        </p:nvSpPr>
        <p:spPr>
          <a:xfrm>
            <a:off x="3383280" y="3108960"/>
            <a:ext cx="2606040" cy="822960"/>
          </a:xfrm>
          <a:prstGeom prst="rect">
            <a:avLst/>
          </a:prstGeom>
          <a:solidFill>
            <a:srgbClr val="1A2235"/>
          </a:solidFill>
          <a:ln cap="flat" cmpd="sng" w="95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  <a:effectLst>
            <a:outerShdw blurRad="177800" rotWithShape="0" algn="bl" dir="8100000" dist="508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p18"/>
          <p:cNvSpPr/>
          <p:nvPr/>
        </p:nvSpPr>
        <p:spPr>
          <a:xfrm>
            <a:off x="3520440" y="3163824"/>
            <a:ext cx="2331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22C55E"/>
                </a:solidFill>
                <a:latin typeface="Calibri"/>
                <a:ea typeface="Calibri"/>
                <a:cs typeface="Calibri"/>
                <a:sym typeface="Calibri"/>
              </a:rPr>
              <a:t>Email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18"/>
          <p:cNvSpPr/>
          <p:nvPr/>
        </p:nvSpPr>
        <p:spPr>
          <a:xfrm>
            <a:off x="3520440" y="3438144"/>
            <a:ext cx="23317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benedictnaza@gmail.com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18"/>
          <p:cNvSpPr/>
          <p:nvPr/>
        </p:nvSpPr>
        <p:spPr>
          <a:xfrm>
            <a:off x="6263640" y="3108960"/>
            <a:ext cx="2606040" cy="822960"/>
          </a:xfrm>
          <a:prstGeom prst="rect">
            <a:avLst/>
          </a:prstGeom>
          <a:solidFill>
            <a:srgbClr val="1A2235"/>
          </a:solidFill>
          <a:ln cap="flat" cmpd="sng" w="95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  <a:effectLst>
            <a:outerShdw blurRad="177800" rotWithShape="0" algn="bl" dir="8100000" dist="508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p18"/>
          <p:cNvSpPr/>
          <p:nvPr/>
        </p:nvSpPr>
        <p:spPr>
          <a:xfrm>
            <a:off x="6400800" y="3163824"/>
            <a:ext cx="2331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22C55E"/>
                </a:solidFill>
                <a:latin typeface="Calibri"/>
                <a:ea typeface="Calibri"/>
                <a:cs typeface="Calibri"/>
                <a:sym typeface="Calibri"/>
              </a:rPr>
              <a:t>Web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18"/>
          <p:cNvSpPr/>
          <p:nvPr/>
        </p:nvSpPr>
        <p:spPr>
          <a:xfrm>
            <a:off x="6400800" y="3438144"/>
            <a:ext cx="23317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00"/>
              <a:buFont typeface="Calibri"/>
              <a:buNone/>
            </a:pPr>
            <a:r>
              <a:rPr lang="en-US" sz="1050" u="sng">
                <a:solidFill>
                  <a:srgbClr val="4493F8"/>
                </a:solidFill>
                <a:highlight>
                  <a:srgbClr val="0D1117"/>
                </a:highlight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kredito-iota.vercel.app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18"/>
          <p:cNvSpPr/>
          <p:nvPr/>
        </p:nvSpPr>
        <p:spPr>
          <a:xfrm>
            <a:off x="502920" y="46634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Kredito · Decentralized Microfinance on Stellar · Philippines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18"/>
          <p:cNvSpPr/>
          <p:nvPr/>
        </p:nvSpPr>
        <p:spPr>
          <a:xfrm>
            <a:off x="6858000" y="1371600"/>
            <a:ext cx="3200400" cy="3200400"/>
          </a:xfrm>
          <a:prstGeom prst="ellipse">
            <a:avLst/>
          </a:prstGeom>
          <a:solidFill>
            <a:srgbClr val="22C55E">
              <a:alpha val="10196"/>
            </a:srgbClr>
          </a:solidFill>
          <a:ln cap="flat" cmpd="sng" w="9525">
            <a:solidFill>
              <a:srgbClr val="22C55E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